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5AEE8D-C496-4948-9F75-937F44C030D2}" v="6" dt="2026-06-19T04:31:47.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7CCADA6D-834C-4600-A4D9-066D4F94FA5A}" type="datetimeFigureOut">
              <a:t>6/18/2026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82B81DA-D0BA-43BB-906E-1135D463A903}" type="slidenum">
              <a:t>‹#›</a:t>
            </a:fld>
            <a:endParaRPr lang="en-GB"/>
          </a:p>
        </p:txBody>
      </p:sp>
    </p:spTree>
    <p:extLst>
      <p:ext uri="{BB962C8B-B14F-4D97-AF65-F5344CB8AC3E}">
        <p14:creationId xmlns:p14="http://schemas.microsoft.com/office/powerpoint/2010/main" val="102875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Megan Patricia Copple, and this is my final project for my SQL Server database class. My project is called Fresh Market Final Project, and it is a database for a local fruit and vegetable shop.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project is to create a database that supports both online and in-store purchases. The shop owner needs a system that tracks customers, products, inventory, orders, order details, and payments.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database includes six tables: Categories, Customers, Products, Orders, OrderItems, and Payments. These tables are connected using primary keys and foreign keys, which helps keep the database organized and accurate.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ERD shows the relationships in the database. Categories connect to products, customers connect to orders, orders connect to order items and payments, and products connect to order items.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protect the data, I added CHECK constraints so quantities and prices cannot be negative. This is important because the shop owner does not want a receipt or order to contain invalid negative values.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a view called vw_ReceiptTotals. This view uses the SUM function to calculate the total amount for each receipt by multiplying quantity by unit price.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stored procedures with parameters, including one that finds customer orders by date and another that processes a purchase. I also created a trigger that automatically capitalizes customer last names after they are inserted or updated.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purchase procedure uses a transaction to check whether the item is available before completing the order. If enough inventory exists, the procedure inserts the order, updates inventory, records payment, and commits the transaction. If not, it rolls back.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created two users for the database. AdminUser has full control of the database, while StaffUser has limited access. This helps protect the database and gives users only the access they need.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had more time, I would improve this project by adding sales reports, product discounts, refunds, more testing, and a dashboard for the shop owner. Overall, this project helped me practice database design, constraints, views, stored procedures, triggers, transactions, and permissions in SQL Server. Thank you for watching my 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dirty="0"/>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6/18/2026</a:t>
            </a:fld>
            <a:endParaRPr lang="en-US" dirty="0"/>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5286038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6/18/2026</a:t>
            </a:fld>
            <a:endParaRPr lang="en-US" dirty="0"/>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710324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dirty="0"/>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6/18/2026</a:t>
            </a:fld>
            <a:endParaRPr lang="en-US" dirty="0"/>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971288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6/18/2026</a:t>
            </a:fld>
            <a:endParaRPr lang="en-US" dirty="0"/>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582119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6/18/2026</a:t>
            </a:fld>
            <a:endParaRPr lang="en-US" dirty="0"/>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694004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6/18/2026</a:t>
            </a:fld>
            <a:endParaRPr lang="en-US" dirty="0"/>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82747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6/18/2026</a:t>
            </a:fld>
            <a:endParaRPr lang="en-US" dirty="0"/>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203586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6/18/2026</a:t>
            </a:fld>
            <a:endParaRPr lang="en-US" dirty="0"/>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723917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6/18/2026</a:t>
            </a:fld>
            <a:endParaRPr lang="en-US" dirty="0"/>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410702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6/18/2026</a:t>
            </a:fld>
            <a:endParaRPr lang="en-US" dirty="0"/>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529541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6/18/2026</a:t>
            </a:fld>
            <a:endParaRPr lang="en-US" dirty="0"/>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680561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FF2"/>
        </a:solidFill>
        <a:effectLst/>
      </p:bgPr>
    </p:bg>
    <p:spTree>
      <p:nvGrpSpPr>
        <p:cNvPr id="1" name=""/>
        <p:cNvGrpSpPr/>
        <p:nvPr/>
      </p:nvGrpSpPr>
      <p:grpSpPr>
        <a:xfrm>
          <a:off x="0" y="0"/>
          <a:ext cx="0" cy="0"/>
          <a:chOff x="0" y="0"/>
          <a:chExt cx="0" cy="0"/>
        </a:xfrm>
      </p:grpSpPr>
      <p:sp>
        <p:nvSpPr>
          <p:cNvPr id="2" name="Shape 0"/>
          <p:cNvSpPr/>
          <p:nvPr/>
        </p:nvSpPr>
        <p:spPr>
          <a:xfrm>
            <a:off x="0" y="6537960"/>
            <a:ext cx="12191695" cy="320040"/>
          </a:xfrm>
          <a:prstGeom prst="rect">
            <a:avLst/>
          </a:prstGeom>
          <a:solidFill>
            <a:srgbClr val="5C946E"/>
          </a:solidFill>
          <a:ln w="12700">
            <a:solidFill>
              <a:srgbClr val="5C946E"/>
            </a:solidFill>
            <a:prstDash val="solid"/>
          </a:ln>
        </p:spPr>
      </p:sp>
      <p:sp>
        <p:nvSpPr>
          <p:cNvPr id="25" name="Slide Number Placeholder 0"/>
          <p:cNvSpPr>
            <a:spLocks noGrp="1"/>
          </p:cNvSpPr>
          <p:nvPr>
            <p:ph type="sldNum" sz="quarter" idx="4294967295"/>
          </p:nvPr>
        </p:nvSpPr>
        <p:spPr>
          <a:xfrm>
            <a:off x="1138428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978261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6/18/2026</a:t>
            </a:fld>
            <a:endParaRPr lang="en-US" dirty="0"/>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dirty="0"/>
          </a:p>
        </p:txBody>
      </p:sp>
    </p:spTree>
    <p:extLst>
      <p:ext uri="{BB962C8B-B14F-4D97-AF65-F5344CB8AC3E}">
        <p14:creationId xmlns:p14="http://schemas.microsoft.com/office/powerpoint/2010/main" val="325926210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orient="horz" pos="3816">
          <p15:clr>
            <a:srgbClr val="F26B43"/>
          </p15:clr>
        </p15:guide>
        <p15:guide id="6" orient="horz" pos="11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FF2"/>
        </a:solidFill>
        <a:effectLst/>
      </p:bgPr>
    </p:bg>
    <p:spTree>
      <p:nvGrpSpPr>
        <p:cNvPr id="1" name=""/>
        <p:cNvGrpSpPr/>
        <p:nvPr/>
      </p:nvGrpSpPr>
      <p:grpSpPr>
        <a:xfrm>
          <a:off x="0" y="0"/>
          <a:ext cx="0" cy="0"/>
          <a:chOff x="0" y="0"/>
          <a:chExt cx="0" cy="0"/>
        </a:xfrm>
      </p:grpSpPr>
      <p:sp>
        <p:nvSpPr>
          <p:cNvPr id="2" name="Text 0"/>
          <p:cNvSpPr/>
          <p:nvPr/>
        </p:nvSpPr>
        <p:spPr>
          <a:xfrm>
            <a:off x="594360" y="1051560"/>
            <a:ext cx="6766560" cy="685800"/>
          </a:xfrm>
          <a:prstGeom prst="rect">
            <a:avLst/>
          </a:prstGeom>
          <a:noFill/>
          <a:ln/>
        </p:spPr>
        <p:txBody>
          <a:bodyPr wrap="square" lIns="0" tIns="0" rIns="0" bIns="0" rtlCol="0" anchor="ctr"/>
          <a:lstStyle/>
          <a:p>
            <a:pPr marL="0" indent="0">
              <a:buNone/>
            </a:pPr>
            <a:r>
              <a:rPr lang="en-US" sz="4200" b="1" dirty="0">
                <a:solidFill>
                  <a:srgbClr val="1F3B2D"/>
                </a:solidFill>
              </a:rPr>
              <a:t>Fresh Market</a:t>
            </a:r>
            <a:endParaRPr lang="en-US" sz="4200" dirty="0"/>
          </a:p>
        </p:txBody>
      </p:sp>
      <p:sp>
        <p:nvSpPr>
          <p:cNvPr id="3" name="Text 1"/>
          <p:cNvSpPr/>
          <p:nvPr/>
        </p:nvSpPr>
        <p:spPr>
          <a:xfrm>
            <a:off x="621792" y="1847088"/>
            <a:ext cx="6217920" cy="384048"/>
          </a:xfrm>
          <a:prstGeom prst="rect">
            <a:avLst/>
          </a:prstGeom>
          <a:noFill/>
          <a:ln/>
        </p:spPr>
        <p:txBody>
          <a:bodyPr wrap="square" lIns="0" tIns="0" rIns="0" bIns="0" rtlCol="0" anchor="ctr"/>
          <a:lstStyle/>
          <a:p>
            <a:pPr marL="0" indent="0">
              <a:buNone/>
            </a:pPr>
            <a:r>
              <a:rPr lang="en-US" sz="2000" dirty="0">
                <a:solidFill>
                  <a:srgbClr val="5C946E"/>
                </a:solidFill>
              </a:rPr>
              <a:t>SQL Server Final Project</a:t>
            </a:r>
            <a:endParaRPr lang="en-US" sz="2000" dirty="0"/>
          </a:p>
        </p:txBody>
      </p:sp>
      <p:sp>
        <p:nvSpPr>
          <p:cNvPr id="4" name="Text 2"/>
          <p:cNvSpPr/>
          <p:nvPr/>
        </p:nvSpPr>
        <p:spPr>
          <a:xfrm>
            <a:off x="621792" y="2450592"/>
            <a:ext cx="6263640" cy="822960"/>
          </a:xfrm>
          <a:prstGeom prst="rect">
            <a:avLst/>
          </a:prstGeom>
          <a:noFill/>
          <a:ln/>
        </p:spPr>
        <p:txBody>
          <a:bodyPr wrap="square" lIns="0" tIns="0" rIns="0" bIns="0" rtlCol="0" anchor="ctr"/>
          <a:lstStyle/>
          <a:p>
            <a:pPr marL="0" indent="0">
              <a:buNone/>
            </a:pPr>
            <a:r>
              <a:rPr lang="en-US" sz="1800" dirty="0">
                <a:solidFill>
                  <a:srgbClr val="54605A"/>
                </a:solidFill>
              </a:rPr>
              <a:t>A database for a local fruit and vegetable shop with online and in-store purchasing.</a:t>
            </a:r>
            <a:endParaRPr lang="en-US" sz="1800" dirty="0"/>
          </a:p>
        </p:txBody>
      </p:sp>
      <p:sp>
        <p:nvSpPr>
          <p:cNvPr id="5" name="Text 3"/>
          <p:cNvSpPr/>
          <p:nvPr/>
        </p:nvSpPr>
        <p:spPr>
          <a:xfrm>
            <a:off x="621792" y="5166360"/>
            <a:ext cx="5029200" cy="320040"/>
          </a:xfrm>
          <a:prstGeom prst="rect">
            <a:avLst/>
          </a:prstGeom>
          <a:noFill/>
          <a:ln/>
        </p:spPr>
        <p:txBody>
          <a:bodyPr wrap="square" lIns="0" tIns="0" rIns="0" bIns="0" rtlCol="0" anchor="ctr"/>
          <a:lstStyle/>
          <a:p>
            <a:pPr marL="0" indent="0">
              <a:buNone/>
            </a:pPr>
            <a:r>
              <a:rPr lang="en-US" sz="1600" b="1" dirty="0">
                <a:solidFill>
                  <a:srgbClr val="1F3B2D"/>
                </a:solidFill>
              </a:rPr>
              <a:t>Megan Patricia Copple</a:t>
            </a:r>
            <a:endParaRPr lang="en-US" sz="1600" dirty="0"/>
          </a:p>
        </p:txBody>
      </p:sp>
      <p:sp>
        <p:nvSpPr>
          <p:cNvPr id="6" name="Text 4"/>
          <p:cNvSpPr/>
          <p:nvPr/>
        </p:nvSpPr>
        <p:spPr>
          <a:xfrm>
            <a:off x="621792" y="5550408"/>
            <a:ext cx="5029200" cy="274320"/>
          </a:xfrm>
          <a:prstGeom prst="rect">
            <a:avLst/>
          </a:prstGeom>
          <a:noFill/>
          <a:ln/>
        </p:spPr>
        <p:txBody>
          <a:bodyPr wrap="square" lIns="0" tIns="0" rIns="0" bIns="0" rtlCol="0" anchor="ctr"/>
          <a:lstStyle/>
          <a:p>
            <a:pPr marL="0" indent="0">
              <a:buNone/>
            </a:pPr>
            <a:r>
              <a:rPr lang="en-US" sz="1300">
                <a:solidFill>
                  <a:srgbClr val="54605A"/>
                </a:solidFill>
              </a:rPr>
              <a:t>Final Project</a:t>
            </a:r>
            <a:endParaRPr lang="en-US" sz="1300" dirty="0"/>
          </a:p>
        </p:txBody>
      </p:sp>
      <p:sp>
        <p:nvSpPr>
          <p:cNvPr id="7" name="Text 5"/>
          <p:cNvSpPr/>
          <p:nvPr/>
        </p:nvSpPr>
        <p:spPr>
          <a:xfrm>
            <a:off x="8412480" y="1051560"/>
            <a:ext cx="1828800" cy="3383280"/>
          </a:xfrm>
          <a:prstGeom prst="rect">
            <a:avLst/>
          </a:prstGeom>
          <a:noFill/>
          <a:ln/>
        </p:spPr>
        <p:txBody>
          <a:bodyPr wrap="square" lIns="0" tIns="0" rIns="0" bIns="0" rtlCol="0" anchor="ctr"/>
          <a:lstStyle/>
          <a:p>
            <a:pPr marL="0" indent="0" algn="ctr">
              <a:buNone/>
            </a:pPr>
            <a:r>
              <a:rPr lang="en-US" sz="5600" dirty="0">
                <a:solidFill>
                  <a:srgbClr val="000000"/>
                </a:solidFill>
              </a:rPr>
              <a:t>🥬</a:t>
            </a:r>
            <a:endParaRPr lang="en-US" sz="5600" dirty="0"/>
          </a:p>
          <a:p>
            <a:pPr marL="0" indent="0" algn="ctr">
              <a:buNone/>
            </a:pPr>
            <a:r>
              <a:rPr lang="en-US" sz="5600" dirty="0">
                <a:solidFill>
                  <a:srgbClr val="000000"/>
                </a:solidFill>
              </a:rPr>
              <a:t>🍊</a:t>
            </a:r>
            <a:endParaRPr lang="en-US" sz="5600" dirty="0"/>
          </a:p>
          <a:p>
            <a:pPr marL="0" indent="0" algn="ctr">
              <a:buNone/>
            </a:pPr>
            <a:r>
              <a:rPr lang="en-US" sz="5600" dirty="0">
                <a:solidFill>
                  <a:srgbClr val="000000"/>
                </a:solidFill>
              </a:rPr>
              <a:t>🍓</a:t>
            </a:r>
            <a:endParaRPr lang="en-US" sz="5600" dirty="0"/>
          </a:p>
        </p:txBody>
      </p:sp>
      <p:sp>
        <p:nvSpPr>
          <p:cNvPr id="8" name="Shape 6"/>
          <p:cNvSpPr/>
          <p:nvPr/>
        </p:nvSpPr>
        <p:spPr>
          <a:xfrm>
            <a:off x="7818120" y="777240"/>
            <a:ext cx="2971800" cy="4206240"/>
          </a:xfrm>
          <a:prstGeom prst="arc">
            <a:avLst/>
          </a:prstGeom>
          <a:noFill/>
          <a:ln w="38100">
            <a:solidFill>
              <a:srgbClr val="5C946E"/>
            </a:solidFill>
            <a:prstDash val="solid"/>
            <a:headEnd type="none"/>
            <a:tailEnd type="none"/>
          </a:ln>
        </p:spPr>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Project Goal</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Build a SQL Server database for a small produce shop.</a:t>
            </a:r>
            <a:endParaRPr lang="en-US" sz="1350" dirty="0"/>
          </a:p>
        </p:txBody>
      </p:sp>
      <p:sp>
        <p:nvSpPr>
          <p:cNvPr id="4" name="Shape 2"/>
          <p:cNvSpPr/>
          <p:nvPr/>
        </p:nvSpPr>
        <p:spPr>
          <a:xfrm>
            <a:off x="685800" y="1508760"/>
            <a:ext cx="3337560" cy="2926080"/>
          </a:xfrm>
          <a:prstGeom prst="roundRect">
            <a:avLst>
              <a:gd name="adj" fmla="val 2188"/>
            </a:avLst>
          </a:prstGeom>
          <a:solidFill>
            <a:srgbClr val="FFFFFF"/>
          </a:solidFill>
          <a:ln w="12700">
            <a:solidFill>
              <a:srgbClr val="D5E8CF"/>
            </a:solidFill>
            <a:prstDash val="solid"/>
          </a:ln>
        </p:spPr>
      </p:sp>
      <p:sp>
        <p:nvSpPr>
          <p:cNvPr id="5" name="Text 3"/>
          <p:cNvSpPr/>
          <p:nvPr/>
        </p:nvSpPr>
        <p:spPr>
          <a:xfrm>
            <a:off x="914400" y="1673352"/>
            <a:ext cx="2880360" cy="320040"/>
          </a:xfrm>
          <a:prstGeom prst="rect">
            <a:avLst/>
          </a:prstGeom>
          <a:noFill/>
          <a:ln/>
        </p:spPr>
        <p:txBody>
          <a:bodyPr wrap="square" lIns="0" tIns="0" rIns="0" bIns="0" rtlCol="0" anchor="ctr"/>
          <a:lstStyle/>
          <a:p>
            <a:pPr marL="0" indent="0">
              <a:buNone/>
            </a:pPr>
            <a:r>
              <a:rPr lang="en-US" sz="1600" b="1" dirty="0">
                <a:solidFill>
                  <a:srgbClr val="5C946E"/>
                </a:solidFill>
              </a:rPr>
              <a:t>Business Need</a:t>
            </a:r>
            <a:endParaRPr lang="en-US" sz="1600" dirty="0"/>
          </a:p>
        </p:txBody>
      </p:sp>
      <p:sp>
        <p:nvSpPr>
          <p:cNvPr id="6" name="Text 4"/>
          <p:cNvSpPr/>
          <p:nvPr/>
        </p:nvSpPr>
        <p:spPr>
          <a:xfrm>
            <a:off x="914400" y="2075688"/>
            <a:ext cx="2880360" cy="214884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Sell fruits and vegetables online and in store while keeping customer, order, payment, and inventory data organized.</a:t>
            </a:r>
            <a:endParaRPr lang="en-US" sz="1350" dirty="0"/>
          </a:p>
        </p:txBody>
      </p:sp>
      <p:sp>
        <p:nvSpPr>
          <p:cNvPr id="7" name="Shape 5"/>
          <p:cNvSpPr/>
          <p:nvPr/>
        </p:nvSpPr>
        <p:spPr>
          <a:xfrm>
            <a:off x="4434840" y="1508760"/>
            <a:ext cx="3337560" cy="2926080"/>
          </a:xfrm>
          <a:prstGeom prst="roundRect">
            <a:avLst>
              <a:gd name="adj" fmla="val 2188"/>
            </a:avLst>
          </a:prstGeom>
          <a:solidFill>
            <a:srgbClr val="FFFFFF"/>
          </a:solidFill>
          <a:ln w="12700">
            <a:solidFill>
              <a:srgbClr val="D5E8CF"/>
            </a:solidFill>
            <a:prstDash val="solid"/>
          </a:ln>
        </p:spPr>
      </p:sp>
      <p:sp>
        <p:nvSpPr>
          <p:cNvPr id="8" name="Text 6"/>
          <p:cNvSpPr/>
          <p:nvPr/>
        </p:nvSpPr>
        <p:spPr>
          <a:xfrm>
            <a:off x="4663440" y="1673352"/>
            <a:ext cx="2880360" cy="320040"/>
          </a:xfrm>
          <a:prstGeom prst="rect">
            <a:avLst/>
          </a:prstGeom>
          <a:noFill/>
          <a:ln/>
        </p:spPr>
        <p:txBody>
          <a:bodyPr wrap="square" lIns="0" tIns="0" rIns="0" bIns="0" rtlCol="0" anchor="ctr"/>
          <a:lstStyle/>
          <a:p>
            <a:pPr marL="0" indent="0">
              <a:buNone/>
            </a:pPr>
            <a:r>
              <a:rPr lang="en-US" sz="1600" b="1" dirty="0">
                <a:solidFill>
                  <a:srgbClr val="5C946E"/>
                </a:solidFill>
              </a:rPr>
              <a:t>Data Protection</a:t>
            </a:r>
            <a:endParaRPr lang="en-US" sz="1600" dirty="0"/>
          </a:p>
        </p:txBody>
      </p:sp>
      <p:sp>
        <p:nvSpPr>
          <p:cNvPr id="9" name="Text 7"/>
          <p:cNvSpPr/>
          <p:nvPr/>
        </p:nvSpPr>
        <p:spPr>
          <a:xfrm>
            <a:off x="4663440" y="2075688"/>
            <a:ext cx="2880360" cy="214884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Prevent negative quantities and prices so receipts and inventory remain accurate.</a:t>
            </a:r>
            <a:endParaRPr lang="en-US" sz="1350" dirty="0"/>
          </a:p>
        </p:txBody>
      </p:sp>
      <p:sp>
        <p:nvSpPr>
          <p:cNvPr id="10" name="Shape 8"/>
          <p:cNvSpPr/>
          <p:nvPr/>
        </p:nvSpPr>
        <p:spPr>
          <a:xfrm>
            <a:off x="8183880" y="1508760"/>
            <a:ext cx="3337560" cy="2926080"/>
          </a:xfrm>
          <a:prstGeom prst="roundRect">
            <a:avLst>
              <a:gd name="adj" fmla="val 2188"/>
            </a:avLst>
          </a:prstGeom>
          <a:solidFill>
            <a:srgbClr val="FFFFFF"/>
          </a:solidFill>
          <a:ln w="12700">
            <a:solidFill>
              <a:srgbClr val="D5E8CF"/>
            </a:solidFill>
            <a:prstDash val="solid"/>
          </a:ln>
        </p:spPr>
      </p:sp>
      <p:sp>
        <p:nvSpPr>
          <p:cNvPr id="11" name="Text 9"/>
          <p:cNvSpPr/>
          <p:nvPr/>
        </p:nvSpPr>
        <p:spPr>
          <a:xfrm>
            <a:off x="8412480" y="1673352"/>
            <a:ext cx="2880360" cy="320040"/>
          </a:xfrm>
          <a:prstGeom prst="rect">
            <a:avLst/>
          </a:prstGeom>
          <a:noFill/>
          <a:ln/>
        </p:spPr>
        <p:txBody>
          <a:bodyPr wrap="square" lIns="0" tIns="0" rIns="0" bIns="0" rtlCol="0" anchor="ctr"/>
          <a:lstStyle/>
          <a:p>
            <a:pPr marL="0" indent="0">
              <a:buNone/>
            </a:pPr>
            <a:r>
              <a:rPr lang="en-US" sz="1600" b="1" dirty="0">
                <a:solidFill>
                  <a:srgbClr val="5C946E"/>
                </a:solidFill>
              </a:rPr>
              <a:t>Purchase Accuracy</a:t>
            </a:r>
            <a:endParaRPr lang="en-US" sz="1600" dirty="0"/>
          </a:p>
        </p:txBody>
      </p:sp>
      <p:sp>
        <p:nvSpPr>
          <p:cNvPr id="12" name="Text 10"/>
          <p:cNvSpPr/>
          <p:nvPr/>
        </p:nvSpPr>
        <p:spPr>
          <a:xfrm>
            <a:off x="8412480" y="2075688"/>
            <a:ext cx="2880360" cy="214884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Check inventory before completing an order, especially when two customers may choose the same item.</a:t>
            </a:r>
            <a:endParaRPr lang="en-US" sz="1350" dirty="0"/>
          </a:p>
        </p:txBody>
      </p:sp>
      <p:sp>
        <p:nvSpPr>
          <p:cNvPr id="13" name="Shape 11"/>
          <p:cNvSpPr/>
          <p:nvPr/>
        </p:nvSpPr>
        <p:spPr>
          <a:xfrm>
            <a:off x="1143000" y="4983480"/>
            <a:ext cx="2011680" cy="475488"/>
          </a:xfrm>
          <a:prstGeom prst="roundRect">
            <a:avLst>
              <a:gd name="adj" fmla="val 15385"/>
            </a:avLst>
          </a:prstGeom>
          <a:solidFill>
            <a:srgbClr val="5C946E"/>
          </a:solidFill>
          <a:ln w="12700">
            <a:solidFill>
              <a:srgbClr val="5C946E"/>
            </a:solidFill>
            <a:prstDash val="solid"/>
          </a:ln>
        </p:spPr>
      </p:sp>
      <p:sp>
        <p:nvSpPr>
          <p:cNvPr id="14" name="Text 12"/>
          <p:cNvSpPr/>
          <p:nvPr/>
        </p:nvSpPr>
        <p:spPr>
          <a:xfrm>
            <a:off x="1216152" y="5056632"/>
            <a:ext cx="1865376" cy="329184"/>
          </a:xfrm>
          <a:prstGeom prst="rect">
            <a:avLst/>
          </a:prstGeom>
          <a:noFill/>
          <a:ln/>
        </p:spPr>
        <p:txBody>
          <a:bodyPr wrap="square" lIns="0" tIns="0" rIns="0" bIns="0" rtlCol="0" anchor="ctr"/>
          <a:lstStyle/>
          <a:p>
            <a:pPr marL="0" indent="0" algn="ctr">
              <a:buNone/>
            </a:pPr>
            <a:r>
              <a:rPr lang="en-US" sz="1400" b="1" dirty="0">
                <a:solidFill>
                  <a:srgbClr val="FFFFFF"/>
                </a:solidFill>
              </a:rPr>
              <a:t>Online + In-Store</a:t>
            </a:r>
            <a:endParaRPr lang="en-US" sz="1400" dirty="0"/>
          </a:p>
        </p:txBody>
      </p:sp>
      <p:sp>
        <p:nvSpPr>
          <p:cNvPr id="15" name="Shape 13"/>
          <p:cNvSpPr/>
          <p:nvPr/>
        </p:nvSpPr>
        <p:spPr>
          <a:xfrm>
            <a:off x="5074920" y="4983480"/>
            <a:ext cx="2011680" cy="475488"/>
          </a:xfrm>
          <a:prstGeom prst="roundRect">
            <a:avLst>
              <a:gd name="adj" fmla="val 15385"/>
            </a:avLst>
          </a:prstGeom>
          <a:solidFill>
            <a:srgbClr val="2F5D62"/>
          </a:solidFill>
          <a:ln w="12700">
            <a:solidFill>
              <a:srgbClr val="2F5D62"/>
            </a:solidFill>
            <a:prstDash val="solid"/>
          </a:ln>
        </p:spPr>
      </p:sp>
      <p:sp>
        <p:nvSpPr>
          <p:cNvPr id="16" name="Text 14"/>
          <p:cNvSpPr/>
          <p:nvPr/>
        </p:nvSpPr>
        <p:spPr>
          <a:xfrm>
            <a:off x="5148072" y="5056632"/>
            <a:ext cx="1865376" cy="329184"/>
          </a:xfrm>
          <a:prstGeom prst="rect">
            <a:avLst/>
          </a:prstGeom>
          <a:noFill/>
          <a:ln/>
        </p:spPr>
        <p:txBody>
          <a:bodyPr wrap="square" lIns="0" tIns="0" rIns="0" bIns="0" rtlCol="0" anchor="ctr"/>
          <a:lstStyle/>
          <a:p>
            <a:pPr marL="0" indent="0" algn="ctr">
              <a:buNone/>
            </a:pPr>
            <a:r>
              <a:rPr lang="en-US" sz="1400" b="1" dirty="0">
                <a:solidFill>
                  <a:srgbClr val="FFFFFF"/>
                </a:solidFill>
              </a:rPr>
              <a:t>Inventory Check</a:t>
            </a:r>
            <a:endParaRPr lang="en-US" sz="1400" dirty="0"/>
          </a:p>
        </p:txBody>
      </p:sp>
      <p:sp>
        <p:nvSpPr>
          <p:cNvPr id="17" name="Shape 15"/>
          <p:cNvSpPr/>
          <p:nvPr/>
        </p:nvSpPr>
        <p:spPr>
          <a:xfrm>
            <a:off x="8915400" y="4983480"/>
            <a:ext cx="2011680" cy="475488"/>
          </a:xfrm>
          <a:prstGeom prst="roundRect">
            <a:avLst>
              <a:gd name="adj" fmla="val 15385"/>
            </a:avLst>
          </a:prstGeom>
          <a:solidFill>
            <a:srgbClr val="F4A261"/>
          </a:solidFill>
          <a:ln w="12700">
            <a:solidFill>
              <a:srgbClr val="F4A261"/>
            </a:solidFill>
            <a:prstDash val="solid"/>
          </a:ln>
        </p:spPr>
      </p:sp>
      <p:sp>
        <p:nvSpPr>
          <p:cNvPr id="18" name="Text 16"/>
          <p:cNvSpPr/>
          <p:nvPr/>
        </p:nvSpPr>
        <p:spPr>
          <a:xfrm>
            <a:off x="8988552" y="5056632"/>
            <a:ext cx="1865376" cy="329184"/>
          </a:xfrm>
          <a:prstGeom prst="rect">
            <a:avLst/>
          </a:prstGeom>
          <a:noFill/>
          <a:ln/>
        </p:spPr>
        <p:txBody>
          <a:bodyPr wrap="square" lIns="0" tIns="0" rIns="0" bIns="0" rtlCol="0" anchor="ctr"/>
          <a:lstStyle/>
          <a:p>
            <a:pPr marL="0" indent="0" algn="ctr">
              <a:buNone/>
            </a:pPr>
            <a:r>
              <a:rPr lang="en-US" sz="1400" b="1" dirty="0">
                <a:solidFill>
                  <a:srgbClr val="FFFFFF"/>
                </a:solidFill>
              </a:rPr>
              <a:t>Receipt Totals</a:t>
            </a:r>
            <a:endParaRPr lang="en-US" sz="14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Tables and Relationships</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Six tables create the store database structure.</a:t>
            </a:r>
            <a:endParaRPr lang="en-US" sz="1350" dirty="0"/>
          </a:p>
        </p:txBody>
      </p:sp>
      <p:sp>
        <p:nvSpPr>
          <p:cNvPr id="4" name="Shape 2"/>
          <p:cNvSpPr/>
          <p:nvPr/>
        </p:nvSpPr>
        <p:spPr>
          <a:xfrm>
            <a:off x="685800" y="1417320"/>
            <a:ext cx="1600200" cy="594360"/>
          </a:xfrm>
          <a:prstGeom prst="roundRect">
            <a:avLst>
              <a:gd name="adj" fmla="val 10769"/>
            </a:avLst>
          </a:prstGeom>
          <a:solidFill>
            <a:srgbClr val="EAF7E2"/>
          </a:solidFill>
          <a:ln w="19050">
            <a:solidFill>
              <a:srgbClr val="5C946E"/>
            </a:solidFill>
            <a:prstDash val="solid"/>
          </a:ln>
        </p:spPr>
      </p:sp>
      <p:sp>
        <p:nvSpPr>
          <p:cNvPr id="5" name="Text 3"/>
          <p:cNvSpPr/>
          <p:nvPr/>
        </p:nvSpPr>
        <p:spPr>
          <a:xfrm>
            <a:off x="777240" y="1581912"/>
            <a:ext cx="1417320" cy="256032"/>
          </a:xfrm>
          <a:prstGeom prst="rect">
            <a:avLst/>
          </a:prstGeom>
          <a:noFill/>
          <a:ln/>
        </p:spPr>
        <p:txBody>
          <a:bodyPr wrap="square" lIns="0" tIns="0" rIns="0" bIns="0" rtlCol="0" anchor="ctr"/>
          <a:lstStyle/>
          <a:p>
            <a:pPr marL="0" indent="0" algn="ctr">
              <a:buNone/>
            </a:pPr>
            <a:r>
              <a:rPr lang="en-US" sz="1400" b="1" dirty="0">
                <a:solidFill>
                  <a:srgbClr val="1F3B2D"/>
                </a:solidFill>
              </a:rPr>
              <a:t>Categories</a:t>
            </a:r>
            <a:endParaRPr lang="en-US" sz="1400" dirty="0"/>
          </a:p>
        </p:txBody>
      </p:sp>
      <p:sp>
        <p:nvSpPr>
          <p:cNvPr id="6" name="Shape 4"/>
          <p:cNvSpPr/>
          <p:nvPr/>
        </p:nvSpPr>
        <p:spPr>
          <a:xfrm>
            <a:off x="2743200" y="1417320"/>
            <a:ext cx="1600200" cy="594360"/>
          </a:xfrm>
          <a:prstGeom prst="roundRect">
            <a:avLst>
              <a:gd name="adj" fmla="val 10769"/>
            </a:avLst>
          </a:prstGeom>
          <a:solidFill>
            <a:srgbClr val="EAF7E2"/>
          </a:solidFill>
          <a:ln w="19050">
            <a:solidFill>
              <a:srgbClr val="5C946E"/>
            </a:solidFill>
            <a:prstDash val="solid"/>
          </a:ln>
        </p:spPr>
      </p:sp>
      <p:sp>
        <p:nvSpPr>
          <p:cNvPr id="7" name="Text 5"/>
          <p:cNvSpPr/>
          <p:nvPr/>
        </p:nvSpPr>
        <p:spPr>
          <a:xfrm>
            <a:off x="2834640" y="1581912"/>
            <a:ext cx="1417320" cy="256032"/>
          </a:xfrm>
          <a:prstGeom prst="rect">
            <a:avLst/>
          </a:prstGeom>
          <a:noFill/>
          <a:ln/>
        </p:spPr>
        <p:txBody>
          <a:bodyPr wrap="square" lIns="0" tIns="0" rIns="0" bIns="0" rtlCol="0" anchor="ctr"/>
          <a:lstStyle/>
          <a:p>
            <a:pPr marL="0" indent="0" algn="ctr">
              <a:buNone/>
            </a:pPr>
            <a:r>
              <a:rPr lang="en-US" sz="1400" b="1" dirty="0">
                <a:solidFill>
                  <a:srgbClr val="1F3B2D"/>
                </a:solidFill>
              </a:rPr>
              <a:t>Products</a:t>
            </a:r>
            <a:endParaRPr lang="en-US" sz="1400" dirty="0"/>
          </a:p>
        </p:txBody>
      </p:sp>
      <p:sp>
        <p:nvSpPr>
          <p:cNvPr id="8" name="Shape 6"/>
          <p:cNvSpPr/>
          <p:nvPr/>
        </p:nvSpPr>
        <p:spPr>
          <a:xfrm>
            <a:off x="4800600" y="1417320"/>
            <a:ext cx="1600200" cy="594360"/>
          </a:xfrm>
          <a:prstGeom prst="roundRect">
            <a:avLst>
              <a:gd name="adj" fmla="val 10769"/>
            </a:avLst>
          </a:prstGeom>
          <a:solidFill>
            <a:srgbClr val="EAF7E2"/>
          </a:solidFill>
          <a:ln w="19050">
            <a:solidFill>
              <a:srgbClr val="5C946E"/>
            </a:solidFill>
            <a:prstDash val="solid"/>
          </a:ln>
        </p:spPr>
      </p:sp>
      <p:sp>
        <p:nvSpPr>
          <p:cNvPr id="9" name="Text 7"/>
          <p:cNvSpPr/>
          <p:nvPr/>
        </p:nvSpPr>
        <p:spPr>
          <a:xfrm>
            <a:off x="4892040" y="1581912"/>
            <a:ext cx="1417320" cy="256032"/>
          </a:xfrm>
          <a:prstGeom prst="rect">
            <a:avLst/>
          </a:prstGeom>
          <a:noFill/>
          <a:ln/>
        </p:spPr>
        <p:txBody>
          <a:bodyPr wrap="square" lIns="0" tIns="0" rIns="0" bIns="0" rtlCol="0" anchor="ctr"/>
          <a:lstStyle/>
          <a:p>
            <a:pPr marL="0" indent="0" algn="ctr">
              <a:buNone/>
            </a:pPr>
            <a:r>
              <a:rPr lang="en-US" sz="1400" b="1" dirty="0">
                <a:solidFill>
                  <a:srgbClr val="1F3B2D"/>
                </a:solidFill>
              </a:rPr>
              <a:t>OrderItems</a:t>
            </a:r>
            <a:endParaRPr lang="en-US" sz="1400" dirty="0"/>
          </a:p>
        </p:txBody>
      </p:sp>
      <p:sp>
        <p:nvSpPr>
          <p:cNvPr id="10" name="Shape 8"/>
          <p:cNvSpPr/>
          <p:nvPr/>
        </p:nvSpPr>
        <p:spPr>
          <a:xfrm>
            <a:off x="6858000" y="1417320"/>
            <a:ext cx="1600200" cy="594360"/>
          </a:xfrm>
          <a:prstGeom prst="roundRect">
            <a:avLst>
              <a:gd name="adj" fmla="val 10769"/>
            </a:avLst>
          </a:prstGeom>
          <a:solidFill>
            <a:srgbClr val="EAF7E2"/>
          </a:solidFill>
          <a:ln w="19050">
            <a:solidFill>
              <a:srgbClr val="5C946E"/>
            </a:solidFill>
            <a:prstDash val="solid"/>
          </a:ln>
        </p:spPr>
      </p:sp>
      <p:sp>
        <p:nvSpPr>
          <p:cNvPr id="11" name="Text 9"/>
          <p:cNvSpPr/>
          <p:nvPr/>
        </p:nvSpPr>
        <p:spPr>
          <a:xfrm>
            <a:off x="6949440" y="1581912"/>
            <a:ext cx="1417320" cy="256032"/>
          </a:xfrm>
          <a:prstGeom prst="rect">
            <a:avLst/>
          </a:prstGeom>
          <a:noFill/>
          <a:ln/>
        </p:spPr>
        <p:txBody>
          <a:bodyPr wrap="square" lIns="0" tIns="0" rIns="0" bIns="0" rtlCol="0" anchor="ctr"/>
          <a:lstStyle/>
          <a:p>
            <a:pPr marL="0" indent="0" algn="ctr">
              <a:buNone/>
            </a:pPr>
            <a:r>
              <a:rPr lang="en-US" sz="1400" b="1" dirty="0">
                <a:solidFill>
                  <a:srgbClr val="1F3B2D"/>
                </a:solidFill>
              </a:rPr>
              <a:t>Orders</a:t>
            </a:r>
            <a:endParaRPr lang="en-US" sz="1400" dirty="0"/>
          </a:p>
        </p:txBody>
      </p:sp>
      <p:sp>
        <p:nvSpPr>
          <p:cNvPr id="12" name="Shape 10"/>
          <p:cNvSpPr/>
          <p:nvPr/>
        </p:nvSpPr>
        <p:spPr>
          <a:xfrm>
            <a:off x="8915400" y="1417320"/>
            <a:ext cx="1600200" cy="594360"/>
          </a:xfrm>
          <a:prstGeom prst="roundRect">
            <a:avLst>
              <a:gd name="adj" fmla="val 10769"/>
            </a:avLst>
          </a:prstGeom>
          <a:solidFill>
            <a:srgbClr val="EAF7E2"/>
          </a:solidFill>
          <a:ln w="19050">
            <a:solidFill>
              <a:srgbClr val="5C946E"/>
            </a:solidFill>
            <a:prstDash val="solid"/>
          </a:ln>
        </p:spPr>
      </p:sp>
      <p:sp>
        <p:nvSpPr>
          <p:cNvPr id="13" name="Text 11"/>
          <p:cNvSpPr/>
          <p:nvPr/>
        </p:nvSpPr>
        <p:spPr>
          <a:xfrm>
            <a:off x="9006840" y="1581912"/>
            <a:ext cx="1417320" cy="256032"/>
          </a:xfrm>
          <a:prstGeom prst="rect">
            <a:avLst/>
          </a:prstGeom>
          <a:noFill/>
          <a:ln/>
        </p:spPr>
        <p:txBody>
          <a:bodyPr wrap="square" lIns="0" tIns="0" rIns="0" bIns="0" rtlCol="0" anchor="ctr"/>
          <a:lstStyle/>
          <a:p>
            <a:pPr marL="0" indent="0" algn="ctr">
              <a:buNone/>
            </a:pPr>
            <a:r>
              <a:rPr lang="en-US" sz="1400" b="1" dirty="0">
                <a:solidFill>
                  <a:srgbClr val="1F3B2D"/>
                </a:solidFill>
              </a:rPr>
              <a:t>Customers</a:t>
            </a:r>
            <a:endParaRPr lang="en-US" sz="1400" dirty="0"/>
          </a:p>
        </p:txBody>
      </p:sp>
      <p:sp>
        <p:nvSpPr>
          <p:cNvPr id="14" name="Shape 12"/>
          <p:cNvSpPr/>
          <p:nvPr/>
        </p:nvSpPr>
        <p:spPr>
          <a:xfrm>
            <a:off x="6858000" y="3246120"/>
            <a:ext cx="1600200" cy="594360"/>
          </a:xfrm>
          <a:prstGeom prst="roundRect">
            <a:avLst>
              <a:gd name="adj" fmla="val 10769"/>
            </a:avLst>
          </a:prstGeom>
          <a:solidFill>
            <a:srgbClr val="EAF7E2"/>
          </a:solidFill>
          <a:ln w="19050">
            <a:solidFill>
              <a:srgbClr val="5C946E"/>
            </a:solidFill>
            <a:prstDash val="solid"/>
          </a:ln>
        </p:spPr>
      </p:sp>
      <p:sp>
        <p:nvSpPr>
          <p:cNvPr id="15" name="Text 13"/>
          <p:cNvSpPr/>
          <p:nvPr/>
        </p:nvSpPr>
        <p:spPr>
          <a:xfrm>
            <a:off x="6949440" y="3410712"/>
            <a:ext cx="1417320" cy="256032"/>
          </a:xfrm>
          <a:prstGeom prst="rect">
            <a:avLst/>
          </a:prstGeom>
          <a:noFill/>
          <a:ln/>
        </p:spPr>
        <p:txBody>
          <a:bodyPr wrap="square" lIns="0" tIns="0" rIns="0" bIns="0" rtlCol="0" anchor="ctr"/>
          <a:lstStyle/>
          <a:p>
            <a:pPr marL="0" indent="0" algn="ctr">
              <a:buNone/>
            </a:pPr>
            <a:r>
              <a:rPr lang="en-US" sz="1400" b="1" dirty="0">
                <a:solidFill>
                  <a:srgbClr val="1F3B2D"/>
                </a:solidFill>
              </a:rPr>
              <a:t>Payments</a:t>
            </a:r>
            <a:endParaRPr lang="en-US" sz="1400" dirty="0"/>
          </a:p>
        </p:txBody>
      </p:sp>
      <p:sp>
        <p:nvSpPr>
          <p:cNvPr id="16" name="Shape 14"/>
          <p:cNvSpPr/>
          <p:nvPr/>
        </p:nvSpPr>
        <p:spPr>
          <a:xfrm>
            <a:off x="2286000" y="1719072"/>
            <a:ext cx="457200" cy="0"/>
          </a:xfrm>
          <a:prstGeom prst="line">
            <a:avLst/>
          </a:prstGeom>
          <a:noFill/>
          <a:ln w="25400">
            <a:solidFill>
              <a:srgbClr val="5C946E"/>
            </a:solidFill>
            <a:prstDash val="solid"/>
            <a:headEnd type="none"/>
            <a:tailEnd type="triangle"/>
          </a:ln>
        </p:spPr>
      </p:sp>
      <p:sp>
        <p:nvSpPr>
          <p:cNvPr id="17" name="Shape 15"/>
          <p:cNvSpPr/>
          <p:nvPr/>
        </p:nvSpPr>
        <p:spPr>
          <a:xfrm>
            <a:off x="4343400" y="1719072"/>
            <a:ext cx="457200" cy="0"/>
          </a:xfrm>
          <a:prstGeom prst="line">
            <a:avLst/>
          </a:prstGeom>
          <a:noFill/>
          <a:ln w="25400">
            <a:solidFill>
              <a:srgbClr val="5C946E"/>
            </a:solidFill>
            <a:prstDash val="solid"/>
            <a:headEnd type="none"/>
            <a:tailEnd type="triangle"/>
          </a:ln>
        </p:spPr>
      </p:sp>
      <p:sp>
        <p:nvSpPr>
          <p:cNvPr id="18" name="Shape 16"/>
          <p:cNvSpPr/>
          <p:nvPr/>
        </p:nvSpPr>
        <p:spPr>
          <a:xfrm>
            <a:off x="6400800" y="1719072"/>
            <a:ext cx="457200" cy="0"/>
          </a:xfrm>
          <a:prstGeom prst="line">
            <a:avLst/>
          </a:prstGeom>
          <a:noFill/>
          <a:ln w="25400">
            <a:solidFill>
              <a:srgbClr val="5C946E"/>
            </a:solidFill>
            <a:prstDash val="solid"/>
            <a:headEnd type="none"/>
            <a:tailEnd type="triangle"/>
          </a:ln>
        </p:spPr>
      </p:sp>
      <p:sp>
        <p:nvSpPr>
          <p:cNvPr id="19" name="Shape 17"/>
          <p:cNvSpPr/>
          <p:nvPr/>
        </p:nvSpPr>
        <p:spPr>
          <a:xfrm>
            <a:off x="8458200" y="1719072"/>
            <a:ext cx="457200" cy="0"/>
          </a:xfrm>
          <a:prstGeom prst="line">
            <a:avLst/>
          </a:prstGeom>
          <a:noFill/>
          <a:ln w="25400">
            <a:solidFill>
              <a:srgbClr val="5C946E"/>
            </a:solidFill>
            <a:prstDash val="solid"/>
            <a:headEnd type="none"/>
            <a:tailEnd type="triangle"/>
          </a:ln>
        </p:spPr>
      </p:sp>
      <p:sp>
        <p:nvSpPr>
          <p:cNvPr id="20" name="Shape 18"/>
          <p:cNvSpPr/>
          <p:nvPr/>
        </p:nvSpPr>
        <p:spPr>
          <a:xfrm>
            <a:off x="7662672" y="2011680"/>
            <a:ext cx="0" cy="1234440"/>
          </a:xfrm>
          <a:prstGeom prst="line">
            <a:avLst/>
          </a:prstGeom>
          <a:noFill/>
          <a:ln w="25400">
            <a:solidFill>
              <a:srgbClr val="5C946E"/>
            </a:solidFill>
            <a:prstDash val="solid"/>
            <a:headEnd type="none"/>
            <a:tailEnd type="triangle"/>
          </a:ln>
        </p:spPr>
      </p:sp>
      <p:sp>
        <p:nvSpPr>
          <p:cNvPr id="21" name="Text 19"/>
          <p:cNvSpPr/>
          <p:nvPr/>
        </p:nvSpPr>
        <p:spPr>
          <a:xfrm>
            <a:off x="1051560" y="4709160"/>
            <a:ext cx="10058400" cy="731520"/>
          </a:xfrm>
          <a:prstGeom prst="rect">
            <a:avLst/>
          </a:prstGeom>
          <a:noFill/>
          <a:ln/>
        </p:spPr>
        <p:txBody>
          <a:bodyPr wrap="square" lIns="0" tIns="0" rIns="0" bIns="0" rtlCol="0" anchor="ctr">
            <a:normAutofit/>
          </a:bodyPr>
          <a:lstStyle/>
          <a:p>
            <a:pPr marL="0" indent="0" algn="ctr">
              <a:buNone/>
            </a:pPr>
            <a:r>
              <a:rPr lang="en-US" sz="1900" dirty="0">
                <a:solidFill>
                  <a:srgbClr val="1F3B2D"/>
                </a:solidFill>
              </a:rPr>
              <a:t>Primary keys and foreign keys connect the tables so each receipt can be traced from customer to products and payment.</a:t>
            </a:r>
            <a:endParaRPr lang="en-US" sz="19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Entity Relationship Diagram</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The ERD shows how each table connects.</a:t>
            </a:r>
            <a:endParaRPr lang="en-US" sz="1350" dirty="0"/>
          </a:p>
        </p:txBody>
      </p:sp>
      <p:pic>
        <p:nvPicPr>
          <p:cNvPr id="4" name="Image 0" descr="/mnt/data/fresh_market_final_project/FreshMarket_ERD.png"/>
          <p:cNvPicPr>
            <a:picLocks noChangeAspect="1"/>
          </p:cNvPicPr>
          <p:nvPr/>
        </p:nvPicPr>
        <p:blipFill>
          <a:blip r:embed="rId3"/>
          <a:stretch>
            <a:fillRect/>
          </a:stretch>
        </p:blipFill>
        <p:spPr>
          <a:xfrm>
            <a:off x="777240" y="1234440"/>
            <a:ext cx="10698480" cy="4983480"/>
          </a:xfrm>
          <a:prstGeom prst="rect">
            <a:avLst/>
          </a:prstGeom>
        </p:spPr>
      </p:pic>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Data Integrity</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Constraints prevent invalid values.</a:t>
            </a:r>
            <a:endParaRPr lang="en-US" sz="1350" dirty="0"/>
          </a:p>
        </p:txBody>
      </p:sp>
      <p:sp>
        <p:nvSpPr>
          <p:cNvPr id="4" name="Text 2"/>
          <p:cNvSpPr/>
          <p:nvPr/>
        </p:nvSpPr>
        <p:spPr>
          <a:xfrm>
            <a:off x="777240" y="1325880"/>
            <a:ext cx="5852160" cy="365760"/>
          </a:xfrm>
          <a:prstGeom prst="rect">
            <a:avLst/>
          </a:prstGeom>
          <a:noFill/>
          <a:ln/>
        </p:spPr>
        <p:txBody>
          <a:bodyPr wrap="square" lIns="0" tIns="0" rIns="0" bIns="0" rtlCol="0" anchor="ctr"/>
          <a:lstStyle/>
          <a:p>
            <a:pPr marL="0" indent="0">
              <a:buNone/>
            </a:pPr>
            <a:r>
              <a:rPr lang="en-US" sz="1800" b="1" dirty="0">
                <a:solidFill>
                  <a:srgbClr val="1F3B2D"/>
                </a:solidFill>
              </a:rPr>
              <a:t>CHECK constraints used in the database:</a:t>
            </a:r>
            <a:endParaRPr lang="en-US" sz="1800" dirty="0"/>
          </a:p>
        </p:txBody>
      </p:sp>
      <p:sp>
        <p:nvSpPr>
          <p:cNvPr id="5" name="Text 3"/>
          <p:cNvSpPr/>
          <p:nvPr/>
        </p:nvSpPr>
        <p:spPr>
          <a:xfrm>
            <a:off x="1005840" y="1920240"/>
            <a:ext cx="557784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Product price must be 0 or greater</a:t>
            </a:r>
            <a:endParaRPr lang="en-US" sz="1800" dirty="0"/>
          </a:p>
        </p:txBody>
      </p:sp>
      <p:sp>
        <p:nvSpPr>
          <p:cNvPr id="6" name="Text 4"/>
          <p:cNvSpPr/>
          <p:nvPr/>
        </p:nvSpPr>
        <p:spPr>
          <a:xfrm>
            <a:off x="1005840" y="2560320"/>
            <a:ext cx="557784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Quantity in stock cannot be negative</a:t>
            </a:r>
            <a:endParaRPr lang="en-US" sz="1800" dirty="0"/>
          </a:p>
        </p:txBody>
      </p:sp>
      <p:sp>
        <p:nvSpPr>
          <p:cNvPr id="7" name="Text 5"/>
          <p:cNvSpPr/>
          <p:nvPr/>
        </p:nvSpPr>
        <p:spPr>
          <a:xfrm>
            <a:off x="1005840" y="3200400"/>
            <a:ext cx="557784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Order item quantity must be greater than 0</a:t>
            </a:r>
            <a:endParaRPr lang="en-US" sz="1800" dirty="0"/>
          </a:p>
        </p:txBody>
      </p:sp>
      <p:sp>
        <p:nvSpPr>
          <p:cNvPr id="8" name="Text 6"/>
          <p:cNvSpPr/>
          <p:nvPr/>
        </p:nvSpPr>
        <p:spPr>
          <a:xfrm>
            <a:off x="1005840" y="3840480"/>
            <a:ext cx="557784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Payment amount must be 0 or greater</a:t>
            </a:r>
            <a:endParaRPr lang="en-US" sz="1800" dirty="0"/>
          </a:p>
        </p:txBody>
      </p:sp>
      <p:sp>
        <p:nvSpPr>
          <p:cNvPr id="9" name="Shape 7"/>
          <p:cNvSpPr/>
          <p:nvPr/>
        </p:nvSpPr>
        <p:spPr>
          <a:xfrm>
            <a:off x="7315200" y="1828800"/>
            <a:ext cx="3840480" cy="2560320"/>
          </a:xfrm>
          <a:prstGeom prst="roundRect">
            <a:avLst>
              <a:gd name="adj" fmla="val 2500"/>
            </a:avLst>
          </a:prstGeom>
          <a:solidFill>
            <a:srgbClr val="FFFFFF"/>
          </a:solidFill>
          <a:ln w="12700">
            <a:solidFill>
              <a:srgbClr val="D5E8CF"/>
            </a:solidFill>
            <a:prstDash val="solid"/>
          </a:ln>
        </p:spPr>
      </p:sp>
      <p:sp>
        <p:nvSpPr>
          <p:cNvPr id="10" name="Text 8"/>
          <p:cNvSpPr/>
          <p:nvPr/>
        </p:nvSpPr>
        <p:spPr>
          <a:xfrm>
            <a:off x="7543800" y="1993392"/>
            <a:ext cx="3383280" cy="320040"/>
          </a:xfrm>
          <a:prstGeom prst="rect">
            <a:avLst/>
          </a:prstGeom>
          <a:noFill/>
          <a:ln/>
        </p:spPr>
        <p:txBody>
          <a:bodyPr wrap="square" lIns="0" tIns="0" rIns="0" bIns="0" rtlCol="0" anchor="ctr"/>
          <a:lstStyle/>
          <a:p>
            <a:pPr marL="0" indent="0">
              <a:buNone/>
            </a:pPr>
            <a:r>
              <a:rPr lang="en-US" sz="1600" b="1" dirty="0">
                <a:solidFill>
                  <a:srgbClr val="5C946E"/>
                </a:solidFill>
              </a:rPr>
              <a:t>Why it matters</a:t>
            </a:r>
            <a:endParaRPr lang="en-US" sz="1600" dirty="0"/>
          </a:p>
        </p:txBody>
      </p:sp>
      <p:sp>
        <p:nvSpPr>
          <p:cNvPr id="11" name="Text 9"/>
          <p:cNvSpPr/>
          <p:nvPr/>
        </p:nvSpPr>
        <p:spPr>
          <a:xfrm>
            <a:off x="7543800" y="2395728"/>
            <a:ext cx="3383280" cy="178308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A receipt should never show a negative number of fruits or vegetables. These rules keep inventory and payment records reliable.</a:t>
            </a:r>
            <a:endParaRPr lang="en-US" sz="135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Receipt View</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A SQL view calculates each order total.</a:t>
            </a:r>
            <a:endParaRPr lang="en-US" sz="1350" dirty="0"/>
          </a:p>
        </p:txBody>
      </p:sp>
      <p:sp>
        <p:nvSpPr>
          <p:cNvPr id="4" name="Shape 2"/>
          <p:cNvSpPr/>
          <p:nvPr/>
        </p:nvSpPr>
        <p:spPr>
          <a:xfrm>
            <a:off x="777240" y="1325880"/>
            <a:ext cx="5029200" cy="4206240"/>
          </a:xfrm>
          <a:prstGeom prst="roundRect">
            <a:avLst>
              <a:gd name="adj" fmla="val 1304"/>
            </a:avLst>
          </a:prstGeom>
          <a:solidFill>
            <a:srgbClr val="1F3B2D"/>
          </a:solidFill>
          <a:ln w="12700">
            <a:solidFill>
              <a:srgbClr val="1F3B2D"/>
            </a:solidFill>
            <a:prstDash val="solid"/>
          </a:ln>
        </p:spPr>
      </p:sp>
      <p:sp>
        <p:nvSpPr>
          <p:cNvPr id="5" name="Text 3"/>
          <p:cNvSpPr/>
          <p:nvPr/>
        </p:nvSpPr>
        <p:spPr>
          <a:xfrm>
            <a:off x="1097280" y="1691640"/>
            <a:ext cx="4389120" cy="3474720"/>
          </a:xfrm>
          <a:prstGeom prst="rect">
            <a:avLst/>
          </a:prstGeom>
          <a:noFill/>
          <a:ln/>
        </p:spPr>
        <p:txBody>
          <a:bodyPr wrap="square" lIns="0" tIns="0" rIns="0" bIns="0" rtlCol="0" anchor="ctr">
            <a:normAutofit/>
          </a:bodyPr>
          <a:lstStyle/>
          <a:p>
            <a:pPr marL="0" indent="0">
              <a:buNone/>
            </a:pPr>
            <a:r>
              <a:rPr lang="en-US" sz="2000" dirty="0">
                <a:solidFill>
                  <a:srgbClr val="FFFFFF"/>
                </a:solidFill>
              </a:rPr>
              <a:t>vw_ReceiptTotals</a:t>
            </a:r>
            <a:endParaRPr lang="en-US" sz="2000" dirty="0"/>
          </a:p>
          <a:p>
            <a:pPr marL="0" indent="0">
              <a:buNone/>
            </a:pPr>
            <a:endParaRPr lang="en-US" sz="2000" dirty="0"/>
          </a:p>
          <a:p>
            <a:pPr marL="0" indent="0">
              <a:buNone/>
            </a:pPr>
            <a:r>
              <a:rPr lang="en-US" sz="2000" dirty="0">
                <a:solidFill>
                  <a:srgbClr val="FFFFFF"/>
                </a:solidFill>
              </a:rPr>
              <a:t>SUM(Quantity * UnitPrice)</a:t>
            </a:r>
            <a:endParaRPr lang="en-US" sz="2000" dirty="0"/>
          </a:p>
          <a:p>
            <a:pPr marL="0" indent="0">
              <a:buNone/>
            </a:pPr>
            <a:endParaRPr lang="en-US" sz="2000" dirty="0"/>
          </a:p>
          <a:p>
            <a:pPr marL="0" indent="0">
              <a:buNone/>
            </a:pPr>
            <a:r>
              <a:rPr lang="en-US" sz="2000" dirty="0">
                <a:solidFill>
                  <a:srgbClr val="FFFFFF"/>
                </a:solidFill>
              </a:rPr>
              <a:t>Customer + Order + Items</a:t>
            </a:r>
            <a:endParaRPr lang="en-US" sz="2000" dirty="0"/>
          </a:p>
          <a:p>
            <a:pPr marL="0" indent="0">
              <a:buNone/>
            </a:pPr>
            <a:r>
              <a:rPr lang="en-US" sz="2000" dirty="0">
                <a:solidFill>
                  <a:srgbClr val="FFFFFF"/>
                </a:solidFill>
              </a:rPr>
              <a:t>= Receipt Total</a:t>
            </a:r>
            <a:endParaRPr lang="en-US" sz="2000" dirty="0"/>
          </a:p>
        </p:txBody>
      </p:sp>
      <p:sp>
        <p:nvSpPr>
          <p:cNvPr id="6" name="Shape 4"/>
          <p:cNvSpPr/>
          <p:nvPr/>
        </p:nvSpPr>
        <p:spPr>
          <a:xfrm>
            <a:off x="6629400" y="1508760"/>
            <a:ext cx="4389120" cy="2926080"/>
          </a:xfrm>
          <a:prstGeom prst="roundRect">
            <a:avLst>
              <a:gd name="adj" fmla="val 2188"/>
            </a:avLst>
          </a:prstGeom>
          <a:solidFill>
            <a:srgbClr val="FFFFFF"/>
          </a:solidFill>
          <a:ln w="12700">
            <a:solidFill>
              <a:srgbClr val="D5E8CF"/>
            </a:solidFill>
            <a:prstDash val="solid"/>
          </a:ln>
        </p:spPr>
      </p:sp>
      <p:sp>
        <p:nvSpPr>
          <p:cNvPr id="7" name="Text 5"/>
          <p:cNvSpPr/>
          <p:nvPr/>
        </p:nvSpPr>
        <p:spPr>
          <a:xfrm>
            <a:off x="6858000" y="1673352"/>
            <a:ext cx="3931920" cy="320040"/>
          </a:xfrm>
          <a:prstGeom prst="rect">
            <a:avLst/>
          </a:prstGeom>
          <a:noFill/>
          <a:ln/>
        </p:spPr>
        <p:txBody>
          <a:bodyPr wrap="square" lIns="0" tIns="0" rIns="0" bIns="0" rtlCol="0" anchor="ctr"/>
          <a:lstStyle/>
          <a:p>
            <a:pPr marL="0" indent="0">
              <a:buNone/>
            </a:pPr>
            <a:r>
              <a:rPr lang="en-US" sz="1600" b="1" dirty="0">
                <a:solidFill>
                  <a:srgbClr val="5C946E"/>
                </a:solidFill>
              </a:rPr>
              <a:t>Result</a:t>
            </a:r>
            <a:endParaRPr lang="en-US" sz="1600" dirty="0"/>
          </a:p>
        </p:txBody>
      </p:sp>
      <p:sp>
        <p:nvSpPr>
          <p:cNvPr id="8" name="Text 6"/>
          <p:cNvSpPr/>
          <p:nvPr/>
        </p:nvSpPr>
        <p:spPr>
          <a:xfrm>
            <a:off x="6858000" y="2075688"/>
            <a:ext cx="3931920" cy="214884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The view groups each order and calculates the total amount owed on the receipt using the SUM aggregate function.</a:t>
            </a:r>
            <a:endParaRPr lang="en-US" sz="1350" dirty="0"/>
          </a:p>
        </p:txBody>
      </p:sp>
      <p:sp>
        <p:nvSpPr>
          <p:cNvPr id="9" name="Shape 7"/>
          <p:cNvSpPr/>
          <p:nvPr/>
        </p:nvSpPr>
        <p:spPr>
          <a:xfrm>
            <a:off x="7452360" y="4663440"/>
            <a:ext cx="1325880" cy="502920"/>
          </a:xfrm>
          <a:prstGeom prst="roundRect">
            <a:avLst>
              <a:gd name="adj" fmla="val 14545"/>
            </a:avLst>
          </a:prstGeom>
          <a:solidFill>
            <a:srgbClr val="F4A261"/>
          </a:solidFill>
          <a:ln w="12700">
            <a:solidFill>
              <a:srgbClr val="F4A261"/>
            </a:solidFill>
            <a:prstDash val="solid"/>
          </a:ln>
        </p:spPr>
      </p:sp>
      <p:sp>
        <p:nvSpPr>
          <p:cNvPr id="10" name="Text 8"/>
          <p:cNvSpPr/>
          <p:nvPr/>
        </p:nvSpPr>
        <p:spPr>
          <a:xfrm>
            <a:off x="7525512" y="4736592"/>
            <a:ext cx="1179576" cy="356616"/>
          </a:xfrm>
          <a:prstGeom prst="rect">
            <a:avLst/>
          </a:prstGeom>
          <a:noFill/>
          <a:ln/>
        </p:spPr>
        <p:txBody>
          <a:bodyPr wrap="square" lIns="0" tIns="0" rIns="0" bIns="0" rtlCol="0" anchor="ctr"/>
          <a:lstStyle/>
          <a:p>
            <a:pPr marL="0" indent="0" algn="ctr">
              <a:buNone/>
            </a:pPr>
            <a:r>
              <a:rPr lang="en-US" sz="1400" b="1" dirty="0">
                <a:solidFill>
                  <a:srgbClr val="FFFFFF"/>
                </a:solidFill>
              </a:rPr>
              <a:t>SUM()</a:t>
            </a:r>
            <a:endParaRPr lang="en-US" sz="1400" dirty="0"/>
          </a:p>
        </p:txBody>
      </p:sp>
      <p:sp>
        <p:nvSpPr>
          <p:cNvPr id="11" name="Shape 9"/>
          <p:cNvSpPr/>
          <p:nvPr/>
        </p:nvSpPr>
        <p:spPr>
          <a:xfrm>
            <a:off x="9052560" y="4663440"/>
            <a:ext cx="1920240" cy="502920"/>
          </a:xfrm>
          <a:prstGeom prst="roundRect">
            <a:avLst>
              <a:gd name="adj" fmla="val 14545"/>
            </a:avLst>
          </a:prstGeom>
          <a:solidFill>
            <a:srgbClr val="5C946E"/>
          </a:solidFill>
          <a:ln w="12700">
            <a:solidFill>
              <a:srgbClr val="5C946E"/>
            </a:solidFill>
            <a:prstDash val="solid"/>
          </a:ln>
        </p:spPr>
      </p:sp>
      <p:sp>
        <p:nvSpPr>
          <p:cNvPr id="12" name="Text 10"/>
          <p:cNvSpPr/>
          <p:nvPr/>
        </p:nvSpPr>
        <p:spPr>
          <a:xfrm>
            <a:off x="9125712" y="4736592"/>
            <a:ext cx="1773936" cy="356616"/>
          </a:xfrm>
          <a:prstGeom prst="rect">
            <a:avLst/>
          </a:prstGeom>
          <a:noFill/>
          <a:ln/>
        </p:spPr>
        <p:txBody>
          <a:bodyPr wrap="square" lIns="0" tIns="0" rIns="0" bIns="0" rtlCol="0" anchor="ctr"/>
          <a:lstStyle/>
          <a:p>
            <a:pPr marL="0" indent="0" algn="ctr">
              <a:buNone/>
            </a:pPr>
            <a:r>
              <a:rPr lang="en-US" sz="1400" b="1" dirty="0">
                <a:solidFill>
                  <a:srgbClr val="FFFFFF"/>
                </a:solidFill>
              </a:rPr>
              <a:t>Receipt Total</a:t>
            </a:r>
            <a:endParaRPr lang="en-US" sz="14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Procedures and Trigger</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Stored procedures automate repeated database tasks.</a:t>
            </a:r>
            <a:endParaRPr lang="en-US" sz="1350" dirty="0"/>
          </a:p>
        </p:txBody>
      </p:sp>
      <p:sp>
        <p:nvSpPr>
          <p:cNvPr id="4" name="Shape 2"/>
          <p:cNvSpPr/>
          <p:nvPr/>
        </p:nvSpPr>
        <p:spPr>
          <a:xfrm>
            <a:off x="777240" y="1417320"/>
            <a:ext cx="3474720" cy="2971800"/>
          </a:xfrm>
          <a:prstGeom prst="roundRect">
            <a:avLst>
              <a:gd name="adj" fmla="val 2154"/>
            </a:avLst>
          </a:prstGeom>
          <a:solidFill>
            <a:srgbClr val="FFFFFF"/>
          </a:solidFill>
          <a:ln w="12700">
            <a:solidFill>
              <a:srgbClr val="D5E8CF"/>
            </a:solidFill>
            <a:prstDash val="solid"/>
          </a:ln>
        </p:spPr>
      </p:sp>
      <p:sp>
        <p:nvSpPr>
          <p:cNvPr id="5" name="Text 3"/>
          <p:cNvSpPr/>
          <p:nvPr/>
        </p:nvSpPr>
        <p:spPr>
          <a:xfrm>
            <a:off x="1005840" y="1581912"/>
            <a:ext cx="3017520" cy="320040"/>
          </a:xfrm>
          <a:prstGeom prst="rect">
            <a:avLst/>
          </a:prstGeom>
          <a:noFill/>
          <a:ln/>
        </p:spPr>
        <p:txBody>
          <a:bodyPr wrap="square" lIns="0" tIns="0" rIns="0" bIns="0" rtlCol="0" anchor="ctr"/>
          <a:lstStyle/>
          <a:p>
            <a:pPr marL="0" indent="0">
              <a:buNone/>
            </a:pPr>
            <a:r>
              <a:rPr lang="en-US" sz="1600" b="1" dirty="0">
                <a:solidFill>
                  <a:srgbClr val="5C946E"/>
                </a:solidFill>
              </a:rPr>
              <a:t>Procedure 1</a:t>
            </a:r>
            <a:endParaRPr lang="en-US" sz="1600" dirty="0"/>
          </a:p>
        </p:txBody>
      </p:sp>
      <p:sp>
        <p:nvSpPr>
          <p:cNvPr id="6" name="Text 4"/>
          <p:cNvSpPr/>
          <p:nvPr/>
        </p:nvSpPr>
        <p:spPr>
          <a:xfrm>
            <a:off x="1005840" y="1984248"/>
            <a:ext cx="3017520" cy="219456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usp_GetCustomerOrders uses CustomerID, StartDate, and EndDate parameters to show customer orders for a date range.</a:t>
            </a:r>
            <a:endParaRPr lang="en-US" sz="1350" dirty="0"/>
          </a:p>
        </p:txBody>
      </p:sp>
      <p:sp>
        <p:nvSpPr>
          <p:cNvPr id="7" name="Shape 5"/>
          <p:cNvSpPr/>
          <p:nvPr/>
        </p:nvSpPr>
        <p:spPr>
          <a:xfrm>
            <a:off x="4389120" y="1417320"/>
            <a:ext cx="3474720" cy="2971800"/>
          </a:xfrm>
          <a:prstGeom prst="roundRect">
            <a:avLst>
              <a:gd name="adj" fmla="val 2154"/>
            </a:avLst>
          </a:prstGeom>
          <a:solidFill>
            <a:srgbClr val="FFFFFF"/>
          </a:solidFill>
          <a:ln w="12700">
            <a:solidFill>
              <a:srgbClr val="D5E8CF"/>
            </a:solidFill>
            <a:prstDash val="solid"/>
          </a:ln>
        </p:spPr>
      </p:sp>
      <p:sp>
        <p:nvSpPr>
          <p:cNvPr id="8" name="Text 6"/>
          <p:cNvSpPr/>
          <p:nvPr/>
        </p:nvSpPr>
        <p:spPr>
          <a:xfrm>
            <a:off x="4617720" y="1581912"/>
            <a:ext cx="3017520" cy="320040"/>
          </a:xfrm>
          <a:prstGeom prst="rect">
            <a:avLst/>
          </a:prstGeom>
          <a:noFill/>
          <a:ln/>
        </p:spPr>
        <p:txBody>
          <a:bodyPr wrap="square" lIns="0" tIns="0" rIns="0" bIns="0" rtlCol="0" anchor="ctr"/>
          <a:lstStyle/>
          <a:p>
            <a:pPr marL="0" indent="0">
              <a:buNone/>
            </a:pPr>
            <a:r>
              <a:rPr lang="en-US" sz="1600" b="1" dirty="0">
                <a:solidFill>
                  <a:srgbClr val="5C946E"/>
                </a:solidFill>
              </a:rPr>
              <a:t>Procedure 2</a:t>
            </a:r>
            <a:endParaRPr lang="en-US" sz="1600" dirty="0"/>
          </a:p>
        </p:txBody>
      </p:sp>
      <p:sp>
        <p:nvSpPr>
          <p:cNvPr id="9" name="Text 7"/>
          <p:cNvSpPr/>
          <p:nvPr/>
        </p:nvSpPr>
        <p:spPr>
          <a:xfrm>
            <a:off x="4617720" y="1984248"/>
            <a:ext cx="3017520" cy="219456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usp_ProcessPurchase uses customer, product, quantity, and payment method parameters to process a purchase safely.</a:t>
            </a:r>
            <a:endParaRPr lang="en-US" sz="1350" dirty="0"/>
          </a:p>
        </p:txBody>
      </p:sp>
      <p:sp>
        <p:nvSpPr>
          <p:cNvPr id="10" name="Shape 8"/>
          <p:cNvSpPr/>
          <p:nvPr/>
        </p:nvSpPr>
        <p:spPr>
          <a:xfrm>
            <a:off x="8001000" y="1417320"/>
            <a:ext cx="3474720" cy="2971800"/>
          </a:xfrm>
          <a:prstGeom prst="roundRect">
            <a:avLst>
              <a:gd name="adj" fmla="val 2154"/>
            </a:avLst>
          </a:prstGeom>
          <a:solidFill>
            <a:srgbClr val="FFFFFF"/>
          </a:solidFill>
          <a:ln w="12700">
            <a:solidFill>
              <a:srgbClr val="D5E8CF"/>
            </a:solidFill>
            <a:prstDash val="solid"/>
          </a:ln>
        </p:spPr>
      </p:sp>
      <p:sp>
        <p:nvSpPr>
          <p:cNvPr id="11" name="Text 9"/>
          <p:cNvSpPr/>
          <p:nvPr/>
        </p:nvSpPr>
        <p:spPr>
          <a:xfrm>
            <a:off x="8229600" y="1581912"/>
            <a:ext cx="3017520" cy="320040"/>
          </a:xfrm>
          <a:prstGeom prst="rect">
            <a:avLst/>
          </a:prstGeom>
          <a:noFill/>
          <a:ln/>
        </p:spPr>
        <p:txBody>
          <a:bodyPr wrap="square" lIns="0" tIns="0" rIns="0" bIns="0" rtlCol="0" anchor="ctr"/>
          <a:lstStyle/>
          <a:p>
            <a:pPr marL="0" indent="0">
              <a:buNone/>
            </a:pPr>
            <a:r>
              <a:rPr lang="en-US" sz="1600" b="1" dirty="0">
                <a:solidFill>
                  <a:srgbClr val="5C946E"/>
                </a:solidFill>
              </a:rPr>
              <a:t>Trigger</a:t>
            </a:r>
            <a:endParaRPr lang="en-US" sz="1600" dirty="0"/>
          </a:p>
        </p:txBody>
      </p:sp>
      <p:sp>
        <p:nvSpPr>
          <p:cNvPr id="12" name="Text 10"/>
          <p:cNvSpPr/>
          <p:nvPr/>
        </p:nvSpPr>
        <p:spPr>
          <a:xfrm>
            <a:off x="8229600" y="1984248"/>
            <a:ext cx="3017520" cy="219456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trg_Customers_CapitalizeLastName automatically converts customer last names to uppercase after insert or update.</a:t>
            </a:r>
            <a:endParaRPr lang="en-US" sz="1350" dirty="0"/>
          </a:p>
        </p:txBody>
      </p:sp>
      <p:sp>
        <p:nvSpPr>
          <p:cNvPr id="13" name="Text 11"/>
          <p:cNvSpPr/>
          <p:nvPr/>
        </p:nvSpPr>
        <p:spPr>
          <a:xfrm>
            <a:off x="1143000" y="4983480"/>
            <a:ext cx="9875520" cy="457200"/>
          </a:xfrm>
          <a:prstGeom prst="rect">
            <a:avLst/>
          </a:prstGeom>
          <a:noFill/>
          <a:ln/>
        </p:spPr>
        <p:txBody>
          <a:bodyPr wrap="square" lIns="0" tIns="0" rIns="0" bIns="0" rtlCol="0" anchor="ctr"/>
          <a:lstStyle/>
          <a:p>
            <a:pPr marL="0" indent="0" algn="ctr">
              <a:buNone/>
            </a:pPr>
            <a:r>
              <a:rPr lang="en-US" sz="1900" dirty="0">
                <a:solidFill>
                  <a:srgbClr val="1F3B2D"/>
                </a:solidFill>
              </a:rPr>
              <a:t>These features help the database enforce rules and reduce manual work.</a:t>
            </a:r>
            <a:endParaRPr lang="en-US" sz="19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Transaction and Inventory</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Purchases complete only when enough stock exists.</a:t>
            </a:r>
            <a:endParaRPr lang="en-US" sz="1350" dirty="0"/>
          </a:p>
        </p:txBody>
      </p:sp>
      <p:sp>
        <p:nvSpPr>
          <p:cNvPr id="4" name="Shape 2"/>
          <p:cNvSpPr/>
          <p:nvPr/>
        </p:nvSpPr>
        <p:spPr>
          <a:xfrm>
            <a:off x="777240" y="1920240"/>
            <a:ext cx="621792" cy="621792"/>
          </a:xfrm>
          <a:prstGeom prst="ellipse">
            <a:avLst/>
          </a:prstGeom>
          <a:solidFill>
            <a:srgbClr val="5C946E"/>
          </a:solidFill>
          <a:ln w="12700">
            <a:solidFill>
              <a:srgbClr val="5C946E"/>
            </a:solidFill>
            <a:prstDash val="solid"/>
          </a:ln>
        </p:spPr>
      </p:sp>
      <p:sp>
        <p:nvSpPr>
          <p:cNvPr id="5" name="Text 3"/>
          <p:cNvSpPr/>
          <p:nvPr/>
        </p:nvSpPr>
        <p:spPr>
          <a:xfrm>
            <a:off x="777240" y="2075688"/>
            <a:ext cx="621792" cy="228600"/>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Text 4"/>
          <p:cNvSpPr/>
          <p:nvPr/>
        </p:nvSpPr>
        <p:spPr>
          <a:xfrm>
            <a:off x="502920" y="2788920"/>
            <a:ext cx="1234440" cy="640080"/>
          </a:xfrm>
          <a:prstGeom prst="rect">
            <a:avLst/>
          </a:prstGeom>
          <a:noFill/>
          <a:ln/>
        </p:spPr>
        <p:txBody>
          <a:bodyPr wrap="square" lIns="0" tIns="0" rIns="0" bIns="0" rtlCol="0" anchor="ctr">
            <a:normAutofit/>
          </a:bodyPr>
          <a:lstStyle/>
          <a:p>
            <a:pPr marL="0" indent="0" algn="ctr">
              <a:buNone/>
            </a:pPr>
            <a:r>
              <a:rPr lang="en-US" sz="1350" dirty="0">
                <a:solidFill>
                  <a:srgbClr val="1F3B2D"/>
                </a:solidFill>
              </a:rPr>
              <a:t>Check product stock</a:t>
            </a:r>
            <a:endParaRPr lang="en-US" sz="1350" dirty="0"/>
          </a:p>
        </p:txBody>
      </p:sp>
      <p:sp>
        <p:nvSpPr>
          <p:cNvPr id="7" name="Shape 5"/>
          <p:cNvSpPr/>
          <p:nvPr/>
        </p:nvSpPr>
        <p:spPr>
          <a:xfrm>
            <a:off x="1490472" y="2231136"/>
            <a:ext cx="1325880" cy="0"/>
          </a:xfrm>
          <a:prstGeom prst="line">
            <a:avLst/>
          </a:prstGeom>
          <a:noFill/>
          <a:ln w="25400">
            <a:solidFill>
              <a:srgbClr val="5C946E"/>
            </a:solidFill>
            <a:prstDash val="solid"/>
            <a:tailEnd type="triangle"/>
          </a:ln>
        </p:spPr>
      </p:sp>
      <p:sp>
        <p:nvSpPr>
          <p:cNvPr id="8" name="Shape 6"/>
          <p:cNvSpPr/>
          <p:nvPr/>
        </p:nvSpPr>
        <p:spPr>
          <a:xfrm>
            <a:off x="3017520" y="1920240"/>
            <a:ext cx="621792" cy="621792"/>
          </a:xfrm>
          <a:prstGeom prst="ellipse">
            <a:avLst/>
          </a:prstGeom>
          <a:solidFill>
            <a:srgbClr val="5C946E"/>
          </a:solidFill>
          <a:ln w="12700">
            <a:solidFill>
              <a:srgbClr val="5C946E"/>
            </a:solidFill>
            <a:prstDash val="solid"/>
          </a:ln>
        </p:spPr>
      </p:sp>
      <p:sp>
        <p:nvSpPr>
          <p:cNvPr id="9" name="Text 7"/>
          <p:cNvSpPr/>
          <p:nvPr/>
        </p:nvSpPr>
        <p:spPr>
          <a:xfrm>
            <a:off x="3017520" y="2075688"/>
            <a:ext cx="621792" cy="228600"/>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0" name="Text 8"/>
          <p:cNvSpPr/>
          <p:nvPr/>
        </p:nvSpPr>
        <p:spPr>
          <a:xfrm>
            <a:off x="2743200" y="2788920"/>
            <a:ext cx="1234440" cy="640080"/>
          </a:xfrm>
          <a:prstGeom prst="rect">
            <a:avLst/>
          </a:prstGeom>
          <a:noFill/>
          <a:ln/>
        </p:spPr>
        <p:txBody>
          <a:bodyPr wrap="square" lIns="0" tIns="0" rIns="0" bIns="0" rtlCol="0" anchor="ctr">
            <a:normAutofit/>
          </a:bodyPr>
          <a:lstStyle/>
          <a:p>
            <a:pPr marL="0" indent="0" algn="ctr">
              <a:buNone/>
            </a:pPr>
            <a:r>
              <a:rPr lang="en-US" sz="1350" dirty="0">
                <a:solidFill>
                  <a:srgbClr val="1F3B2D"/>
                </a:solidFill>
              </a:rPr>
              <a:t>Insert order</a:t>
            </a:r>
            <a:endParaRPr lang="en-US" sz="1350" dirty="0"/>
          </a:p>
        </p:txBody>
      </p:sp>
      <p:sp>
        <p:nvSpPr>
          <p:cNvPr id="11" name="Shape 9"/>
          <p:cNvSpPr/>
          <p:nvPr/>
        </p:nvSpPr>
        <p:spPr>
          <a:xfrm>
            <a:off x="3730752" y="2231136"/>
            <a:ext cx="1325880" cy="0"/>
          </a:xfrm>
          <a:prstGeom prst="line">
            <a:avLst/>
          </a:prstGeom>
          <a:noFill/>
          <a:ln w="25400">
            <a:solidFill>
              <a:srgbClr val="5C946E"/>
            </a:solidFill>
            <a:prstDash val="solid"/>
            <a:tailEnd type="triangle"/>
          </a:ln>
        </p:spPr>
      </p:sp>
      <p:sp>
        <p:nvSpPr>
          <p:cNvPr id="12" name="Shape 10"/>
          <p:cNvSpPr/>
          <p:nvPr/>
        </p:nvSpPr>
        <p:spPr>
          <a:xfrm>
            <a:off x="5257800" y="1920240"/>
            <a:ext cx="621792" cy="621792"/>
          </a:xfrm>
          <a:prstGeom prst="ellipse">
            <a:avLst/>
          </a:prstGeom>
          <a:solidFill>
            <a:srgbClr val="5C946E"/>
          </a:solidFill>
          <a:ln w="12700">
            <a:solidFill>
              <a:srgbClr val="5C946E"/>
            </a:solidFill>
            <a:prstDash val="solid"/>
          </a:ln>
        </p:spPr>
      </p:sp>
      <p:sp>
        <p:nvSpPr>
          <p:cNvPr id="13" name="Text 11"/>
          <p:cNvSpPr/>
          <p:nvPr/>
        </p:nvSpPr>
        <p:spPr>
          <a:xfrm>
            <a:off x="5257800" y="2075688"/>
            <a:ext cx="621792" cy="228600"/>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4" name="Text 12"/>
          <p:cNvSpPr/>
          <p:nvPr/>
        </p:nvSpPr>
        <p:spPr>
          <a:xfrm>
            <a:off x="4983480" y="2788920"/>
            <a:ext cx="1234440" cy="640080"/>
          </a:xfrm>
          <a:prstGeom prst="rect">
            <a:avLst/>
          </a:prstGeom>
          <a:noFill/>
          <a:ln/>
        </p:spPr>
        <p:txBody>
          <a:bodyPr wrap="square" lIns="0" tIns="0" rIns="0" bIns="0" rtlCol="0" anchor="ctr">
            <a:normAutofit/>
          </a:bodyPr>
          <a:lstStyle/>
          <a:p>
            <a:pPr marL="0" indent="0" algn="ctr">
              <a:buNone/>
            </a:pPr>
            <a:r>
              <a:rPr lang="en-US" sz="1350" dirty="0">
                <a:solidFill>
                  <a:srgbClr val="1F3B2D"/>
                </a:solidFill>
              </a:rPr>
              <a:t>Insert order item</a:t>
            </a:r>
            <a:endParaRPr lang="en-US" sz="1350" dirty="0"/>
          </a:p>
        </p:txBody>
      </p:sp>
      <p:sp>
        <p:nvSpPr>
          <p:cNvPr id="15" name="Shape 13"/>
          <p:cNvSpPr/>
          <p:nvPr/>
        </p:nvSpPr>
        <p:spPr>
          <a:xfrm>
            <a:off x="5971032" y="2231136"/>
            <a:ext cx="1325880" cy="0"/>
          </a:xfrm>
          <a:prstGeom prst="line">
            <a:avLst/>
          </a:prstGeom>
          <a:noFill/>
          <a:ln w="25400">
            <a:solidFill>
              <a:srgbClr val="5C946E"/>
            </a:solidFill>
            <a:prstDash val="solid"/>
            <a:tailEnd type="triangle"/>
          </a:ln>
        </p:spPr>
      </p:sp>
      <p:sp>
        <p:nvSpPr>
          <p:cNvPr id="16" name="Shape 14"/>
          <p:cNvSpPr/>
          <p:nvPr/>
        </p:nvSpPr>
        <p:spPr>
          <a:xfrm>
            <a:off x="7498080" y="1920240"/>
            <a:ext cx="621792" cy="621792"/>
          </a:xfrm>
          <a:prstGeom prst="ellipse">
            <a:avLst/>
          </a:prstGeom>
          <a:solidFill>
            <a:srgbClr val="5C946E"/>
          </a:solidFill>
          <a:ln w="12700">
            <a:solidFill>
              <a:srgbClr val="5C946E"/>
            </a:solidFill>
            <a:prstDash val="solid"/>
          </a:ln>
        </p:spPr>
      </p:sp>
      <p:sp>
        <p:nvSpPr>
          <p:cNvPr id="17" name="Text 15"/>
          <p:cNvSpPr/>
          <p:nvPr/>
        </p:nvSpPr>
        <p:spPr>
          <a:xfrm>
            <a:off x="7498080" y="2075688"/>
            <a:ext cx="621792" cy="228600"/>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18" name="Text 16"/>
          <p:cNvSpPr/>
          <p:nvPr/>
        </p:nvSpPr>
        <p:spPr>
          <a:xfrm>
            <a:off x="7223760" y="2788920"/>
            <a:ext cx="1234440" cy="640080"/>
          </a:xfrm>
          <a:prstGeom prst="rect">
            <a:avLst/>
          </a:prstGeom>
          <a:noFill/>
          <a:ln/>
        </p:spPr>
        <p:txBody>
          <a:bodyPr wrap="square" lIns="0" tIns="0" rIns="0" bIns="0" rtlCol="0" anchor="ctr">
            <a:normAutofit/>
          </a:bodyPr>
          <a:lstStyle/>
          <a:p>
            <a:pPr marL="0" indent="0" algn="ctr">
              <a:buNone/>
            </a:pPr>
            <a:r>
              <a:rPr lang="en-US" sz="1350" dirty="0">
                <a:solidFill>
                  <a:srgbClr val="1F3B2D"/>
                </a:solidFill>
              </a:rPr>
              <a:t>Update inventory</a:t>
            </a:r>
            <a:endParaRPr lang="en-US" sz="1350" dirty="0"/>
          </a:p>
        </p:txBody>
      </p:sp>
      <p:sp>
        <p:nvSpPr>
          <p:cNvPr id="19" name="Shape 17"/>
          <p:cNvSpPr/>
          <p:nvPr/>
        </p:nvSpPr>
        <p:spPr>
          <a:xfrm>
            <a:off x="8211312" y="2231136"/>
            <a:ext cx="1325880" cy="0"/>
          </a:xfrm>
          <a:prstGeom prst="line">
            <a:avLst/>
          </a:prstGeom>
          <a:noFill/>
          <a:ln w="25400">
            <a:solidFill>
              <a:srgbClr val="5C946E"/>
            </a:solidFill>
            <a:prstDash val="solid"/>
            <a:tailEnd type="triangle"/>
          </a:ln>
        </p:spPr>
      </p:sp>
      <p:sp>
        <p:nvSpPr>
          <p:cNvPr id="20" name="Shape 18"/>
          <p:cNvSpPr/>
          <p:nvPr/>
        </p:nvSpPr>
        <p:spPr>
          <a:xfrm>
            <a:off x="9738360" y="1920240"/>
            <a:ext cx="621792" cy="621792"/>
          </a:xfrm>
          <a:prstGeom prst="ellipse">
            <a:avLst/>
          </a:prstGeom>
          <a:solidFill>
            <a:srgbClr val="5C946E"/>
          </a:solidFill>
          <a:ln w="12700">
            <a:solidFill>
              <a:srgbClr val="5C946E"/>
            </a:solidFill>
            <a:prstDash val="solid"/>
          </a:ln>
        </p:spPr>
      </p:sp>
      <p:sp>
        <p:nvSpPr>
          <p:cNvPr id="21" name="Text 19"/>
          <p:cNvSpPr/>
          <p:nvPr/>
        </p:nvSpPr>
        <p:spPr>
          <a:xfrm>
            <a:off x="9738360" y="2075688"/>
            <a:ext cx="621792" cy="228600"/>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2" name="Text 20"/>
          <p:cNvSpPr/>
          <p:nvPr/>
        </p:nvSpPr>
        <p:spPr>
          <a:xfrm>
            <a:off x="9464040" y="2788920"/>
            <a:ext cx="1234440" cy="640080"/>
          </a:xfrm>
          <a:prstGeom prst="rect">
            <a:avLst/>
          </a:prstGeom>
          <a:noFill/>
          <a:ln/>
        </p:spPr>
        <p:txBody>
          <a:bodyPr wrap="square" lIns="0" tIns="0" rIns="0" bIns="0" rtlCol="0" anchor="ctr">
            <a:normAutofit/>
          </a:bodyPr>
          <a:lstStyle/>
          <a:p>
            <a:pPr marL="0" indent="0" algn="ctr">
              <a:buNone/>
            </a:pPr>
            <a:r>
              <a:rPr lang="en-US" sz="1350" dirty="0">
                <a:solidFill>
                  <a:srgbClr val="1F3B2D"/>
                </a:solidFill>
              </a:rPr>
              <a:t>Record payment</a:t>
            </a:r>
            <a:endParaRPr lang="en-US" sz="1350" dirty="0"/>
          </a:p>
        </p:txBody>
      </p:sp>
      <p:sp>
        <p:nvSpPr>
          <p:cNvPr id="23" name="Text 21"/>
          <p:cNvSpPr/>
          <p:nvPr/>
        </p:nvSpPr>
        <p:spPr>
          <a:xfrm>
            <a:off x="914400" y="4800600"/>
            <a:ext cx="10241280" cy="411480"/>
          </a:xfrm>
          <a:prstGeom prst="rect">
            <a:avLst/>
          </a:prstGeom>
          <a:noFill/>
          <a:ln/>
        </p:spPr>
        <p:txBody>
          <a:bodyPr wrap="square" lIns="0" tIns="0" rIns="0" bIns="0" rtlCol="0" anchor="ctr"/>
          <a:lstStyle/>
          <a:p>
            <a:pPr marL="0" indent="0" algn="ctr">
              <a:buNone/>
            </a:pPr>
            <a:r>
              <a:rPr lang="en-US" sz="2000" b="1" dirty="0">
                <a:solidFill>
                  <a:srgbClr val="1F3B2D"/>
                </a:solidFill>
              </a:rPr>
              <a:t>If stock is too low, the transaction rolls back and the order is not completed.</a:t>
            </a:r>
            <a:endParaRPr lang="en-US" sz="20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Security and Users</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Different users have different access levels.</a:t>
            </a:r>
            <a:endParaRPr lang="en-US" sz="1350" dirty="0"/>
          </a:p>
        </p:txBody>
      </p:sp>
      <p:sp>
        <p:nvSpPr>
          <p:cNvPr id="4" name="Shape 2"/>
          <p:cNvSpPr/>
          <p:nvPr/>
        </p:nvSpPr>
        <p:spPr>
          <a:xfrm>
            <a:off x="1051560" y="1645920"/>
            <a:ext cx="4663440" cy="3017520"/>
          </a:xfrm>
          <a:prstGeom prst="roundRect">
            <a:avLst>
              <a:gd name="adj" fmla="val 2121"/>
            </a:avLst>
          </a:prstGeom>
          <a:solidFill>
            <a:srgbClr val="FFFFFF"/>
          </a:solidFill>
          <a:ln w="12700">
            <a:solidFill>
              <a:srgbClr val="D5E8CF"/>
            </a:solidFill>
            <a:prstDash val="solid"/>
          </a:ln>
        </p:spPr>
      </p:sp>
      <p:sp>
        <p:nvSpPr>
          <p:cNvPr id="5" name="Text 3"/>
          <p:cNvSpPr/>
          <p:nvPr/>
        </p:nvSpPr>
        <p:spPr>
          <a:xfrm>
            <a:off x="1280160" y="1810512"/>
            <a:ext cx="4206240" cy="320040"/>
          </a:xfrm>
          <a:prstGeom prst="rect">
            <a:avLst/>
          </a:prstGeom>
          <a:noFill/>
          <a:ln/>
        </p:spPr>
        <p:txBody>
          <a:bodyPr wrap="square" lIns="0" tIns="0" rIns="0" bIns="0" rtlCol="0" anchor="ctr"/>
          <a:lstStyle/>
          <a:p>
            <a:pPr marL="0" indent="0">
              <a:buNone/>
            </a:pPr>
            <a:r>
              <a:rPr lang="en-US" sz="1600" b="1" dirty="0">
                <a:solidFill>
                  <a:srgbClr val="5C946E"/>
                </a:solidFill>
              </a:rPr>
              <a:t>AdminUser</a:t>
            </a:r>
            <a:endParaRPr lang="en-US" sz="1600" dirty="0"/>
          </a:p>
        </p:txBody>
      </p:sp>
      <p:sp>
        <p:nvSpPr>
          <p:cNvPr id="6" name="Text 4"/>
          <p:cNvSpPr/>
          <p:nvPr/>
        </p:nvSpPr>
        <p:spPr>
          <a:xfrm>
            <a:off x="1280160" y="2212848"/>
            <a:ext cx="4206240" cy="224028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Full database control through db_owner. This role can manage the database, tables, and permissions.</a:t>
            </a:r>
            <a:endParaRPr lang="en-US" sz="1350" dirty="0"/>
          </a:p>
        </p:txBody>
      </p:sp>
      <p:sp>
        <p:nvSpPr>
          <p:cNvPr id="7" name="Shape 5"/>
          <p:cNvSpPr/>
          <p:nvPr/>
        </p:nvSpPr>
        <p:spPr>
          <a:xfrm>
            <a:off x="6492240" y="1645920"/>
            <a:ext cx="4663440" cy="3017520"/>
          </a:xfrm>
          <a:prstGeom prst="roundRect">
            <a:avLst>
              <a:gd name="adj" fmla="val 2121"/>
            </a:avLst>
          </a:prstGeom>
          <a:solidFill>
            <a:srgbClr val="FFFFFF"/>
          </a:solidFill>
          <a:ln w="12700">
            <a:solidFill>
              <a:srgbClr val="D5E8CF"/>
            </a:solidFill>
            <a:prstDash val="solid"/>
          </a:ln>
        </p:spPr>
      </p:sp>
      <p:sp>
        <p:nvSpPr>
          <p:cNvPr id="8" name="Text 6"/>
          <p:cNvSpPr/>
          <p:nvPr/>
        </p:nvSpPr>
        <p:spPr>
          <a:xfrm>
            <a:off x="6720840" y="1810512"/>
            <a:ext cx="4206240" cy="320040"/>
          </a:xfrm>
          <a:prstGeom prst="rect">
            <a:avLst/>
          </a:prstGeom>
          <a:noFill/>
          <a:ln/>
        </p:spPr>
        <p:txBody>
          <a:bodyPr wrap="square" lIns="0" tIns="0" rIns="0" bIns="0" rtlCol="0" anchor="ctr"/>
          <a:lstStyle/>
          <a:p>
            <a:pPr marL="0" indent="0">
              <a:buNone/>
            </a:pPr>
            <a:r>
              <a:rPr lang="en-US" sz="1600" b="1" dirty="0">
                <a:solidFill>
                  <a:srgbClr val="5C946E"/>
                </a:solidFill>
              </a:rPr>
              <a:t>StaffUser</a:t>
            </a:r>
            <a:endParaRPr lang="en-US" sz="1600" dirty="0"/>
          </a:p>
        </p:txBody>
      </p:sp>
      <p:sp>
        <p:nvSpPr>
          <p:cNvPr id="9" name="Text 7"/>
          <p:cNvSpPr/>
          <p:nvPr/>
        </p:nvSpPr>
        <p:spPr>
          <a:xfrm>
            <a:off x="6720840" y="2212848"/>
            <a:ext cx="4206240" cy="2240280"/>
          </a:xfrm>
          <a:prstGeom prst="rect">
            <a:avLst/>
          </a:prstGeom>
          <a:noFill/>
          <a:ln/>
        </p:spPr>
        <p:txBody>
          <a:bodyPr wrap="square" lIns="254" tIns="254" rIns="254" bIns="254" rtlCol="0" anchor="ctr">
            <a:normAutofit/>
          </a:bodyPr>
          <a:lstStyle/>
          <a:p>
            <a:pPr marL="0" indent="0">
              <a:buNone/>
            </a:pPr>
            <a:r>
              <a:rPr lang="en-US" sz="1350" dirty="0">
                <a:solidFill>
                  <a:srgbClr val="1F3B2D"/>
                </a:solidFill>
              </a:rPr>
              <a:t>Limited access. Staff can view and update daily sales information but cannot delete database records.</a:t>
            </a:r>
            <a:endParaRPr lang="en-US" sz="1350" dirty="0"/>
          </a:p>
        </p:txBody>
      </p:sp>
      <p:sp>
        <p:nvSpPr>
          <p:cNvPr id="10" name="Text 8"/>
          <p:cNvSpPr/>
          <p:nvPr/>
        </p:nvSpPr>
        <p:spPr>
          <a:xfrm>
            <a:off x="1280160" y="5166360"/>
            <a:ext cx="9601200" cy="411480"/>
          </a:xfrm>
          <a:prstGeom prst="rect">
            <a:avLst/>
          </a:prstGeom>
          <a:noFill/>
          <a:ln/>
        </p:spPr>
        <p:txBody>
          <a:bodyPr wrap="square" lIns="0" tIns="0" rIns="0" bIns="0" rtlCol="0" anchor="ctr"/>
          <a:lstStyle/>
          <a:p>
            <a:pPr marL="0" indent="0" algn="ctr">
              <a:buNone/>
            </a:pPr>
            <a:r>
              <a:rPr lang="en-US" sz="2100" b="1" dirty="0">
                <a:solidFill>
                  <a:srgbClr val="5C946E"/>
                </a:solidFill>
              </a:rPr>
              <a:t>Least privilege helps protect the shop database.</a:t>
            </a:r>
            <a:endParaRPr lang="en-US" sz="21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0040"/>
            <a:ext cx="10789920" cy="502920"/>
          </a:xfrm>
          <a:prstGeom prst="rect">
            <a:avLst/>
          </a:prstGeom>
          <a:noFill/>
          <a:ln/>
        </p:spPr>
        <p:txBody>
          <a:bodyPr wrap="square" lIns="0" tIns="0" rIns="0" bIns="0" rtlCol="0" anchor="ctr"/>
          <a:lstStyle/>
          <a:p>
            <a:pPr marL="0" indent="0">
              <a:buNone/>
            </a:pPr>
            <a:r>
              <a:rPr lang="en-US" sz="2800" b="1" dirty="0">
                <a:solidFill>
                  <a:srgbClr val="1F3B2D"/>
                </a:solidFill>
              </a:rPr>
              <a:t>Future Improvements</a:t>
            </a:r>
            <a:endParaRPr lang="en-US" sz="2800" dirty="0"/>
          </a:p>
        </p:txBody>
      </p:sp>
      <p:sp>
        <p:nvSpPr>
          <p:cNvPr id="3" name="Text 1"/>
          <p:cNvSpPr/>
          <p:nvPr/>
        </p:nvSpPr>
        <p:spPr>
          <a:xfrm>
            <a:off x="621792" y="841248"/>
            <a:ext cx="10789920" cy="320040"/>
          </a:xfrm>
          <a:prstGeom prst="rect">
            <a:avLst/>
          </a:prstGeom>
          <a:noFill/>
          <a:ln/>
        </p:spPr>
        <p:txBody>
          <a:bodyPr wrap="square" lIns="0" tIns="0" rIns="0" bIns="0" rtlCol="0" anchor="ctr"/>
          <a:lstStyle/>
          <a:p>
            <a:pPr marL="0" indent="0">
              <a:buNone/>
            </a:pPr>
            <a:r>
              <a:rPr lang="en-US" sz="1350" dirty="0">
                <a:solidFill>
                  <a:srgbClr val="54605A"/>
                </a:solidFill>
              </a:rPr>
              <a:t>What I would add with more time.</a:t>
            </a:r>
            <a:endParaRPr lang="en-US" sz="1350" dirty="0"/>
          </a:p>
        </p:txBody>
      </p:sp>
      <p:sp>
        <p:nvSpPr>
          <p:cNvPr id="4" name="Text 2"/>
          <p:cNvSpPr/>
          <p:nvPr/>
        </p:nvSpPr>
        <p:spPr>
          <a:xfrm>
            <a:off x="1051560" y="1508760"/>
            <a:ext cx="530352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Sales reports by day, category, and product</a:t>
            </a:r>
            <a:endParaRPr lang="en-US" sz="1800" dirty="0"/>
          </a:p>
        </p:txBody>
      </p:sp>
      <p:sp>
        <p:nvSpPr>
          <p:cNvPr id="5" name="Text 3"/>
          <p:cNvSpPr/>
          <p:nvPr/>
        </p:nvSpPr>
        <p:spPr>
          <a:xfrm>
            <a:off x="1051560" y="2148840"/>
            <a:ext cx="530352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Return and refund process</a:t>
            </a:r>
            <a:endParaRPr lang="en-US" sz="1800" dirty="0"/>
          </a:p>
        </p:txBody>
      </p:sp>
      <p:sp>
        <p:nvSpPr>
          <p:cNvPr id="6" name="Text 4"/>
          <p:cNvSpPr/>
          <p:nvPr/>
        </p:nvSpPr>
        <p:spPr>
          <a:xfrm>
            <a:off x="1051560" y="2788920"/>
            <a:ext cx="530352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Discounts and promotions</a:t>
            </a:r>
            <a:endParaRPr lang="en-US" sz="1800" dirty="0"/>
          </a:p>
        </p:txBody>
      </p:sp>
      <p:sp>
        <p:nvSpPr>
          <p:cNvPr id="7" name="Text 5"/>
          <p:cNvSpPr/>
          <p:nvPr/>
        </p:nvSpPr>
        <p:spPr>
          <a:xfrm>
            <a:off x="1051560" y="3429000"/>
            <a:ext cx="530352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Inventory dashboard for the owner</a:t>
            </a:r>
            <a:endParaRPr lang="en-US" sz="1800" dirty="0"/>
          </a:p>
        </p:txBody>
      </p:sp>
      <p:sp>
        <p:nvSpPr>
          <p:cNvPr id="8" name="Text 6"/>
          <p:cNvSpPr/>
          <p:nvPr/>
        </p:nvSpPr>
        <p:spPr>
          <a:xfrm>
            <a:off x="1051560" y="4069080"/>
            <a:ext cx="5303520" cy="411480"/>
          </a:xfrm>
          <a:prstGeom prst="rect">
            <a:avLst/>
          </a:prstGeom>
          <a:noFill/>
          <a:ln/>
        </p:spPr>
        <p:txBody>
          <a:bodyPr wrap="square" lIns="635" tIns="635" rIns="635" bIns="635" rtlCol="0" anchor="ctr">
            <a:normAutofit/>
          </a:bodyPr>
          <a:lstStyle/>
          <a:p>
            <a:pPr marL="0" indent="0">
              <a:buNone/>
            </a:pPr>
            <a:r>
              <a:rPr lang="en-US" sz="1800" dirty="0">
                <a:solidFill>
                  <a:srgbClr val="1F3B2D"/>
                </a:solidFill>
              </a:rPr>
              <a:t>• More testing for real-world purchase scenarios</a:t>
            </a:r>
            <a:endParaRPr lang="en-US" sz="1800" dirty="0"/>
          </a:p>
        </p:txBody>
      </p:sp>
      <p:sp>
        <p:nvSpPr>
          <p:cNvPr id="9" name="Text 7"/>
          <p:cNvSpPr/>
          <p:nvPr/>
        </p:nvSpPr>
        <p:spPr>
          <a:xfrm>
            <a:off x="8001000" y="2194560"/>
            <a:ext cx="2834640" cy="640080"/>
          </a:xfrm>
          <a:prstGeom prst="rect">
            <a:avLst/>
          </a:prstGeom>
          <a:noFill/>
          <a:ln/>
        </p:spPr>
        <p:txBody>
          <a:bodyPr wrap="square" lIns="0" tIns="0" rIns="0" bIns="0" rtlCol="0" anchor="ctr"/>
          <a:lstStyle/>
          <a:p>
            <a:pPr marL="0" indent="0" algn="ctr">
              <a:buNone/>
            </a:pPr>
            <a:r>
              <a:rPr lang="en-US" sz="3400" b="1" dirty="0">
                <a:solidFill>
                  <a:srgbClr val="5C946E"/>
                </a:solidFill>
              </a:rPr>
              <a:t>Thank you!</a:t>
            </a:r>
            <a:endParaRPr lang="en-US" sz="3400" dirty="0"/>
          </a:p>
        </p:txBody>
      </p:sp>
      <p:sp>
        <p:nvSpPr>
          <p:cNvPr id="10" name="Text 8"/>
          <p:cNvSpPr/>
          <p:nvPr/>
        </p:nvSpPr>
        <p:spPr>
          <a:xfrm>
            <a:off x="7452360" y="3108960"/>
            <a:ext cx="3931920" cy="1097280"/>
          </a:xfrm>
          <a:prstGeom prst="rect">
            <a:avLst/>
          </a:prstGeom>
          <a:noFill/>
          <a:ln/>
        </p:spPr>
        <p:txBody>
          <a:bodyPr wrap="square" lIns="0" tIns="0" rIns="0" bIns="0" rtlCol="0" anchor="ctr">
            <a:normAutofit/>
          </a:bodyPr>
          <a:lstStyle/>
          <a:p>
            <a:pPr marL="0" indent="0" algn="ctr">
              <a:buNone/>
            </a:pPr>
            <a:r>
              <a:rPr lang="en-US" sz="1700" dirty="0">
                <a:solidFill>
                  <a:srgbClr val="1F3B2D"/>
                </a:solidFill>
              </a:rPr>
              <a:t>This project practiced tables, keys, constraints, views, procedures, triggers, transactions, and permissions.</a:t>
            </a:r>
            <a:endParaRPr lang="en-US" sz="1700" dirty="0"/>
          </a:p>
        </p:txBody>
      </p:sp>
      <p:sp>
        <p:nvSpPr>
          <p:cNvPr id="25" name="Slide Number Placeholder 0"/>
          <p:cNvSpPr>
            <a:spLocks noGrp="1"/>
          </p:cNvSpPr>
          <p:nvPr>
            <p:ph type="sldNum" sz="quarter" idx="4294967295"/>
          </p:nvPr>
        </p:nvSpPr>
        <p:spPr>
          <a:xfrm>
            <a:off x="11383963" y="6583363"/>
            <a:ext cx="800100" cy="300037"/>
          </a:xfrm>
          <a:prstGeom prst="rect">
            <a:avLst/>
          </a:prstGeom>
          <a:extLst>
            <a:ext uri="{C572A759-6A51-4108-AA02-DFA0A04FC94B}">
              <ma14:wrappingTextBoxFlag xmlns="" xmlns:ma14="http://schemas.microsoft.com/office/mac/drawingml/2011/main" val="0"/>
            </a:ext>
          </a:extLst>
        </p:spPr>
        <p:txBody>
          <a:bodyPr/>
          <a:lstStyle>
            <a:lvl1pPr>
              <a:defRPr sz="1000">
                <a:solidFill>
                  <a:srgbClr val="FFFFFF"/>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BohoVogueVTI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Pierce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Market Final Project</dc:title>
  <dc:subject>SQL Server Final Project</dc:subject>
  <dc:creator>Megan Patricia Copple</dc:creator>
  <cp:lastModifiedBy>Megan Patricia Copple</cp:lastModifiedBy>
  <cp:revision>7</cp:revision>
  <dcterms:created xsi:type="dcterms:W3CDTF">2026-06-19T04:19:21Z</dcterms:created>
  <dcterms:modified xsi:type="dcterms:W3CDTF">2026-06-19T04:56:17Z</dcterms:modified>
</cp:coreProperties>
</file>